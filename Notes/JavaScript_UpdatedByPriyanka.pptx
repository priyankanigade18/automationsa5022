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8" r:id="rId4"/>
    <p:sldId id="303" r:id="rId5"/>
    <p:sldId id="258" r:id="rId6"/>
    <p:sldId id="259" r:id="rId7"/>
    <p:sldId id="315" r:id="rId8"/>
    <p:sldId id="260" r:id="rId9"/>
    <p:sldId id="316" r:id="rId10"/>
    <p:sldId id="261" r:id="rId11"/>
    <p:sldId id="291" r:id="rId12"/>
    <p:sldId id="290" r:id="rId13"/>
    <p:sldId id="262" r:id="rId14"/>
    <p:sldId id="302" r:id="rId15"/>
    <p:sldId id="288" r:id="rId16"/>
    <p:sldId id="289" r:id="rId17"/>
    <p:sldId id="293" r:id="rId18"/>
    <p:sldId id="292" r:id="rId19"/>
    <p:sldId id="300" r:id="rId20"/>
    <p:sldId id="264" r:id="rId21"/>
    <p:sldId id="294" r:id="rId22"/>
    <p:sldId id="317" r:id="rId23"/>
    <p:sldId id="296" r:id="rId24"/>
    <p:sldId id="297" r:id="rId25"/>
    <p:sldId id="298" r:id="rId26"/>
    <p:sldId id="295" r:id="rId27"/>
    <p:sldId id="299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301" r:id="rId36"/>
    <p:sldId id="274" r:id="rId37"/>
    <p:sldId id="309" r:id="rId38"/>
    <p:sldId id="310" r:id="rId39"/>
    <p:sldId id="311" r:id="rId40"/>
    <p:sldId id="312" r:id="rId41"/>
    <p:sldId id="313" r:id="rId42"/>
    <p:sldId id="272" r:id="rId43"/>
    <p:sldId id="284" r:id="rId44"/>
    <p:sldId id="285" r:id="rId45"/>
    <p:sldId id="286" r:id="rId46"/>
    <p:sldId id="275" r:id="rId47"/>
    <p:sldId id="276" r:id="rId48"/>
    <p:sldId id="277" r:id="rId49"/>
    <p:sldId id="278" r:id="rId50"/>
    <p:sldId id="304" r:id="rId51"/>
    <p:sldId id="279" r:id="rId52"/>
    <p:sldId id="280" r:id="rId53"/>
    <p:sldId id="306" r:id="rId54"/>
    <p:sldId id="307" r:id="rId55"/>
    <p:sldId id="282" r:id="rId56"/>
    <p:sldId id="283" r:id="rId57"/>
    <p:sldId id="308" r:id="rId58"/>
    <p:sldId id="314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4:48:5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3650,'0'0'2142,"0"1"-2183,-1 0-1,1 0 1,0 0 0,0 0 0,0 0-1,0 0 1,0 0 0,0-1-1,0 1 1,0 0 0,0 0-1,0 0 1,0 0 0,1 0 0,-1 0-1,0 0 1,1-1 0,-1 1-1,1 0 1,-1 0 0,1 0 0,0 0-1,17-1-1460,3 0-1518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75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4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8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5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4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29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9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4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58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53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22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6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073181-F35D-4DB2-961E-423ECA3271F8}" type="datetimeFigureOut">
              <a:rPr lang="en-IN" smtClean="0"/>
              <a:t>25-07-2025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2A7EDC-8ECC-4BF7-84B9-1B1FCDC280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33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5F0-ACC3-26EB-82F6-2C661C9B7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JavaScript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1736B-9991-3BB0-13A5-C1B643BEB0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Priyanka </a:t>
            </a:r>
            <a:r>
              <a:rPr lang="en-IN" dirty="0" err="1"/>
              <a:t>Nigade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C50C0-0369-5394-0FD9-C800A404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6" y="82484"/>
            <a:ext cx="10018713" cy="1752599"/>
          </a:xfrm>
        </p:spPr>
        <p:txBody>
          <a:bodyPr/>
          <a:lstStyle/>
          <a:p>
            <a:r>
              <a:rPr lang="en-IN" b="1" dirty="0"/>
              <a:t>What is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A480E1-2793-E5B0-0860-061EC2C4A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017" y="1469795"/>
            <a:ext cx="100187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developed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Netscape.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a cross-platform, object-oriented scripting language used to make webpages interactive (e.g., having complex animations, clickable buttons, popup menus, etc.).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are also more advanced server side versions of JavaScript such as Node.js, which allow you to add more functionality to a website than downloading files (such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collaboration between multiple computers). </a:t>
            </a:r>
          </a:p>
        </p:txBody>
      </p:sp>
    </p:spTree>
    <p:extLst>
      <p:ext uri="{BB962C8B-B14F-4D97-AF65-F5344CB8AC3E}">
        <p14:creationId xmlns:p14="http://schemas.microsoft.com/office/powerpoint/2010/main" val="3477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8396-58BE-A1C1-2C56-4073D5DE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5029"/>
            <a:ext cx="10018713" cy="1064340"/>
          </a:xfrm>
        </p:spPr>
        <p:txBody>
          <a:bodyPr/>
          <a:lstStyle/>
          <a:p>
            <a:r>
              <a:rPr lang="en-IN" b="1" dirty="0"/>
              <a:t>What </a:t>
            </a:r>
            <a:r>
              <a:rPr lang="en-IN" b="1"/>
              <a:t>is JavaScript</a:t>
            </a:r>
            <a:r>
              <a:rPr lang="en-IN" b="1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0C0B8-FF2F-2C6B-84DA-F67D41C7A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15845"/>
            <a:ext cx="10018713" cy="4375356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JavaScript is fundamentally synchronous executes code in a sequential manner, one line at a time.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The program waits for each operation to complete before moving on to the next. 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To handle tasks that might take a while (e.g., fetching data from a server, waiting for a </a:t>
            </a:r>
            <a:r>
              <a:rPr lang="en-US" dirty="0" err="1">
                <a:latin typeface="Arial" panose="020B0604020202020204" pitchFamily="34" charset="0"/>
              </a:rPr>
              <a:t>timer,waiting</a:t>
            </a:r>
            <a:r>
              <a:rPr lang="en-US" dirty="0">
                <a:latin typeface="Arial" panose="020B0604020202020204" pitchFamily="34" charset="0"/>
              </a:rPr>
              <a:t> for any other operation), JavaScript employs asynchronous mechanisms.</a:t>
            </a:r>
            <a:endParaRPr lang="en-I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570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5F34-2191-C113-A424-707142A6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5289"/>
            <a:ext cx="10018713" cy="1086439"/>
          </a:xfrm>
        </p:spPr>
        <p:txBody>
          <a:bodyPr>
            <a:noAutofit/>
          </a:bodyPr>
          <a:lstStyle/>
          <a:p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Interpreter - Based Language ?</a:t>
            </a:r>
            <a:b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02C4-0895-1E29-BC72-60F991AD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1728"/>
            <a:ext cx="10289768" cy="4720471"/>
          </a:xfrm>
        </p:spPr>
        <p:txBody>
          <a:bodyPr anchor="t"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interpreter - based languages, there is no separate compilation phase.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nstead, the code is executed line by line at runtime.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approach doesn't create intermediate files (like bytecode or object code),making it different from compiler-based languages.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Because it interprets each line as it’s executed, it can make changes and test them quickly,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though it can be slower than a fully compiled language for large programs.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A0F7-8991-1ED8-1BDD-2B649FCE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1715678"/>
          </a:xfrm>
        </p:spPr>
        <p:txBody>
          <a:bodyPr>
            <a:noAutofit/>
          </a:bodyPr>
          <a:lstStyle/>
          <a:p>
            <a:r>
              <a:rPr lang="en-IN" sz="2800" b="1" dirty="0"/>
              <a:t>History</a:t>
            </a:r>
            <a:br>
              <a:rPr lang="en-IN" sz="2800" b="1" dirty="0"/>
            </a:br>
            <a:r>
              <a:rPr lang="en-US" sz="2800" b="1" dirty="0"/>
              <a:t>(ECMA was formerly an acronym for the European Computer Manufacturers Association) </a:t>
            </a:r>
            <a:endParaRPr lang="en-IN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CE8FC-A7C5-6BEE-EECD-5F79A7672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was created by Brendan Eich.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Mocha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changed to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finally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language’s official specification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standardized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Milestones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ES3 (1999)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many features, including regular expressions and better string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ES6 (2015)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Introduced major features like arrow functions,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classes, promises, and more.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BD980-C9B7-EBE1-F5D9-B957E97E1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15678"/>
            <a:ext cx="11012258" cy="48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8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8B2C-5604-29EC-97F4-705297E1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10765"/>
            <a:ext cx="10018713" cy="803635"/>
          </a:xfrm>
        </p:spPr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C82F03-B00F-A8B0-5DE2-3A4D6EE4F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09" y="998357"/>
            <a:ext cx="103757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Dynamically Typed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You don’t need to define the type of variable when declaring 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JavaScript code is executed line by line, unlike compiled languages.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objects, inheritance, and methods.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First-class functions, higher-order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async/await, promises, and event-driven programming.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Multi-Paradigm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Supports object-oriented, imperative, and functional programming. </a:t>
            </a:r>
          </a:p>
        </p:txBody>
      </p:sp>
    </p:spTree>
    <p:extLst>
      <p:ext uri="{BB962C8B-B14F-4D97-AF65-F5344CB8AC3E}">
        <p14:creationId xmlns:p14="http://schemas.microsoft.com/office/powerpoint/2010/main" val="108042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26D7-D086-7766-8B5C-CCF9ABA1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82485"/>
            <a:ext cx="10018713" cy="1752599"/>
          </a:xfrm>
        </p:spPr>
        <p:txBody>
          <a:bodyPr/>
          <a:lstStyle/>
          <a:p>
            <a:r>
              <a:rPr lang="en-IN" b="1" dirty="0"/>
              <a:t> Envir0nment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0E0AD-D659-54E1-E90A-DB57D3E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615" y="1328393"/>
            <a:ext cx="10018713" cy="3124201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Node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Visual Studio Code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Install code runner extension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4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9090-3C39-2C14-2529-A6EADDA7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336" y="0"/>
            <a:ext cx="10018713" cy="1752599"/>
          </a:xfrm>
        </p:spPr>
        <p:txBody>
          <a:bodyPr/>
          <a:lstStyle/>
          <a:p>
            <a:r>
              <a:rPr lang="en-IN" b="1" dirty="0"/>
              <a:t>Data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C28E3-D3E1-3865-8121-24DDA4575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6484" y="1476058"/>
            <a:ext cx="1000532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String: A sequence of characters.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Number: Includes integers and floating-point numbers.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Boolean: true or false.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Null: Represents the intentional absence of any object value.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Undefined: A variable that hasn’t been assigned a value.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BigInt: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hold arbitrarily large integers (more complex)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Symbol: A unique and immutable data type (ES6+).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Non-Primitive Types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Object: A collection of properties (key-value pairs).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Array: A collection of elements (indexed list).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0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7225-EEDB-C299-FEEB-FDAC5F4D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1"/>
            <a:ext cx="10018713" cy="1752599"/>
          </a:xfrm>
        </p:spPr>
        <p:txBody>
          <a:bodyPr/>
          <a:lstStyle/>
          <a:p>
            <a:r>
              <a:rPr lang="en-IN" b="1" dirty="0"/>
              <a:t>JavaScript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025A-7DF5-4DC7-D2B8-37146843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55423"/>
            <a:ext cx="10018713" cy="4235777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string represents textual data. It contains a sequence of characters. For example, "hello", "JavaScript", 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JavaScript, strings are surrounded by quotes: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Single quotes: 'Hello'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Double quotes: "Hello"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Backticks: `Hello`</a:t>
            </a:r>
          </a:p>
        </p:txBody>
      </p:sp>
    </p:spTree>
    <p:extLst>
      <p:ext uri="{BB962C8B-B14F-4D97-AF65-F5344CB8AC3E}">
        <p14:creationId xmlns:p14="http://schemas.microsoft.com/office/powerpoint/2010/main" val="94778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602E-5BB8-8610-CAA5-E87E7EBEF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189" y="365289"/>
            <a:ext cx="10018713" cy="945037"/>
          </a:xfrm>
        </p:spPr>
        <p:txBody>
          <a:bodyPr/>
          <a:lstStyle/>
          <a:p>
            <a:r>
              <a:rPr lang="en-IN" b="1" dirty="0"/>
              <a:t>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3D2FF-8B45-3D74-29A2-42378010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3" y="1310327"/>
            <a:ext cx="10018712" cy="4581426"/>
          </a:xfrm>
        </p:spPr>
      </p:pic>
    </p:spTree>
    <p:extLst>
      <p:ext uri="{BB962C8B-B14F-4D97-AF65-F5344CB8AC3E}">
        <p14:creationId xmlns:p14="http://schemas.microsoft.com/office/powerpoint/2010/main" val="170347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7052E-F44C-FE03-3DBC-35FDC1B5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616" y="190500"/>
            <a:ext cx="10018713" cy="1016131"/>
          </a:xfrm>
        </p:spPr>
        <p:txBody>
          <a:bodyPr/>
          <a:lstStyle/>
          <a:p>
            <a:r>
              <a:rPr lang="en-IN" b="1" dirty="0" err="1"/>
              <a:t>typeof</a:t>
            </a:r>
            <a:r>
              <a:rPr lang="en-IN" b="1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2783-4F93-78B4-8C46-7B8461FC6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89435"/>
            <a:ext cx="10018713" cy="5297864"/>
          </a:xfrm>
        </p:spPr>
        <p:txBody>
          <a:bodyPr anchor="t">
            <a:normAutofit fontScale="625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` is used to determine the data type of a variable or value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10;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"number"</a:t>
            </a:r>
          </a:p>
          <a:p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"Hello";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"string"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true;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unassignedVar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"undefined"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= null;</a:t>
            </a:r>
          </a:p>
          <a:p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800" dirty="0" err="1">
                <a:latin typeface="Arial" panose="020B0604020202020204" pitchFamily="34" charset="0"/>
                <a:cs typeface="Arial" panose="020B0604020202020204" pitchFamily="34" charset="0"/>
              </a:rPr>
              <a:t>nullVar</a:t>
            </a:r>
            <a:r>
              <a:rPr lang="en-IN" sz="3800" dirty="0">
                <a:latin typeface="Arial" panose="020B0604020202020204" pitchFamily="34" charset="0"/>
                <a:cs typeface="Arial" panose="020B0604020202020204" pitchFamily="34" charset="0"/>
              </a:rPr>
              <a:t>); // Output: "object" (this is a known bug in JavaScript)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14:cNvPr>
              <p14:cNvContentPartPr/>
              <p14:nvPr/>
            </p14:nvContentPartPr>
            <p14:xfrm>
              <a:off x="2779872" y="1952265"/>
              <a:ext cx="16200" cy="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B7950D-F56A-FF84-FAC4-3E7FD70AD4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1232" y="1943265"/>
                <a:ext cx="338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85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E347-0C3E-63BA-2F68-99058F16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Working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8C23-4C9E-91E8-C754-56DE9136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712" y="1866899"/>
            <a:ext cx="10018713" cy="3124201"/>
          </a:xfrm>
        </p:spPr>
        <p:txBody>
          <a:bodyPr anchor="t"/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No Need to Declare Variable Type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Same Variable Can Be Assigned Values of Different Types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No Scoping Information in Variable Declarations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Variable and Values Can Be Interrogated(Using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2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E747A-2596-09D4-55A8-1E585892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02" y="0"/>
            <a:ext cx="10018713" cy="1752599"/>
          </a:xfrm>
        </p:spPr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292C6-C627-DBF5-5167-42DE5E36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027" y="1428135"/>
            <a:ext cx="9853332" cy="4167434"/>
          </a:xfrm>
        </p:spPr>
        <p:txBody>
          <a:bodyPr anchor="t">
            <a:normAutofit lnSpcReduction="10000"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let: Block-scoped  and Global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const: Block-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scoped,Global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read-only variable.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var: Function-scoped/global-scoped variable (older, generally avoided now).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name = "Alice"; // 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country = "USA"; // Immutable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let temp = "Hot";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const pi = 3.14;  // Block-scoped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55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6113-F4B5-B686-7DDE-05D3ABC02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0409"/>
            <a:ext cx="10018713" cy="577392"/>
          </a:xfrm>
        </p:spPr>
        <p:txBody>
          <a:bodyPr>
            <a:noAutofit/>
          </a:bodyPr>
          <a:lstStyle/>
          <a:p>
            <a:r>
              <a:rPr lang="en-IN" b="1" dirty="0"/>
              <a:t>Understand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A1367-1AB1-8DAA-45F7-5C43E68D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EB4D-839D-E292-E0DD-44904199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264" y="1055016"/>
            <a:ext cx="10514803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212-E271-D83B-E9E8-93D53CFB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5610"/>
          </a:xfrm>
        </p:spPr>
        <p:txBody>
          <a:bodyPr/>
          <a:lstStyle/>
          <a:p>
            <a:r>
              <a:rPr lang="en-IN" b="1" dirty="0"/>
              <a:t>Redeclaration for let and var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4B78-CD4D-EC4F-6333-AB6A342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045" y="1819373"/>
            <a:ext cx="10576875" cy="3971827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“Tom";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“Jerry"; // No error, `name` is re-declared and re-assigned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“Jerry“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age = 25;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age = 30;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SyntaxError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Identifier 'age' has already been declared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console.log(age); // "Bob"</a:t>
            </a:r>
          </a:p>
        </p:txBody>
      </p:sp>
    </p:spTree>
    <p:extLst>
      <p:ext uri="{BB962C8B-B14F-4D97-AF65-F5344CB8AC3E}">
        <p14:creationId xmlns:p14="http://schemas.microsoft.com/office/powerpoint/2010/main" val="55834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C8BE-4A85-FF03-D4F3-515178357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33314"/>
            <a:ext cx="10018713" cy="1058159"/>
          </a:xfrm>
        </p:spPr>
        <p:txBody>
          <a:bodyPr/>
          <a:lstStyle/>
          <a:p>
            <a:r>
              <a:rPr lang="en-IN" b="1" dirty="0"/>
              <a:t>Scope for var and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DBEF-DEA4-A517-BD03-A55E243C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1291473"/>
            <a:ext cx="10202123" cy="5333213"/>
          </a:xfrm>
        </p:spPr>
        <p:txBody>
          <a:bodyPr anchor="t">
            <a:no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(true)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var x = 10;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let y = 20;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console.log("inside function y value " +y);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}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console.log(x); // 10 (accessible because `var` is function-scoped or globally scoped)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console.log(y);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y is not defined (because `let` is block-scoped)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76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2E0E-FF53-13D8-5686-B4D3DB41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05672"/>
          </a:xfrm>
        </p:spPr>
        <p:txBody>
          <a:bodyPr>
            <a:noAutofit/>
          </a:bodyPr>
          <a:lstStyle/>
          <a:p>
            <a:r>
              <a:rPr lang="en-IN" b="1" dirty="0"/>
              <a:t>Working with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193B-2282-E1D7-C13C-7ADF92C6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15678"/>
            <a:ext cx="10018713" cy="4075522"/>
          </a:xfrm>
        </p:spPr>
        <p:txBody>
          <a:bodyPr anchor="t">
            <a:normAutofit/>
          </a:bodyPr>
          <a:lstStyle/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PI = 3.14159; // A constant for the value of PI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Trying to reassign a const variable will cause an error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PI = 3.14; // ❌ Error: Assignment to constant variable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const for values that should not change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 BASE_URL = "https://api.example.com";</a:t>
            </a:r>
          </a:p>
          <a:p>
            <a:pPr marL="0" indent="0" algn="just" defTabSz="9144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console.log(BASE_URL);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68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9082-91B5-262B-8104-5120199A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785"/>
            <a:ext cx="10018713" cy="8719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0FC5-C275-5B30-8D2D-81D3E581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935383"/>
            <a:ext cx="10018713" cy="5646656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JavaScript moves variable declarations to the top of their scope (hoisting)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declarations are hoisted, not initializations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Hoisting is the behavior where you can able to access variable before even declaring it.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undefined (variable declared but not initialized yet)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"I'm hoisted!";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hoistedVar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 // Output: "I'm hoisted!"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"let" and "const" are not hoisted in the same way as "var"; using them before declaration will cause an error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console.log(b);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Cannot access 'b' before initialization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let b = 10;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0291-B22A-6196-56A1-8CFDF107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11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Hoisting in JavaScript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620E-CBD3-B008-06FB-F6610554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5677"/>
            <a:ext cx="10018713" cy="4365523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var: Variables declared with var are hoisted to the top of their scope, meaning they are moved to the top of the function or global scope and are initialized with undefined.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However, they are only assigned a value when the code reaches their actual line of assignment.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let: Accessing a let variable before its declaration results in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ReferenceError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due to the temporal dead zone(the period between the beginning of the block and the declaration line).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BB6A-B7DF-C12A-DDFA-F8592011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8472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Operators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14150C-C639-1D27-6CF4-14A851ED6F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3300437"/>
            <a:ext cx="10261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A1F10-9638-D740-872A-0401CDF6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85" y="865568"/>
            <a:ext cx="10018712" cy="53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18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E751-B1A9-987A-2859-826F6003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22548"/>
            <a:ext cx="10018713" cy="1253765"/>
          </a:xfrm>
        </p:spPr>
        <p:txBody>
          <a:bodyPr/>
          <a:lstStyle/>
          <a:p>
            <a:r>
              <a:rPr lang="en-IN" b="1" dirty="0"/>
              <a:t>Loose Equality == Vs Strict Equality===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2165-7608-75AE-B4D1-AD900580E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17716"/>
            <a:ext cx="10487731" cy="4565715"/>
          </a:xfrm>
        </p:spPr>
        <p:txBody>
          <a:bodyPr anchor="t"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== (loose equality) compares values with type coercion.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converts operands to the same type before comparing them.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=== (strict equality) compares both values and types without type coercion.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 "5");  // Output: true (because '5' is coerced to number)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console.log(5 === "5");  // Output: false (because types are different)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 undefined); // true - Special case where null and undefined are loosely equal.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console.log(null === undefined); // false - Strict equality checks type and value, which differ here.</a:t>
            </a: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388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D618-4F8B-1304-A5EB-038A6461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715"/>
            <a:ext cx="10018713" cy="1152427"/>
          </a:xfrm>
        </p:spPr>
        <p:txBody>
          <a:bodyPr/>
          <a:lstStyle/>
          <a:p>
            <a:r>
              <a:rPr lang="en-IN" b="1" dirty="0"/>
              <a:t>Guess Output?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DF19FB-476F-BB98-B6B5-9D2BF7F37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683" y="1527143"/>
            <a:ext cx="7830495" cy="4722828"/>
          </a:xfrm>
        </p:spPr>
      </p:pic>
    </p:spTree>
    <p:extLst>
      <p:ext uri="{BB962C8B-B14F-4D97-AF65-F5344CB8AC3E}">
        <p14:creationId xmlns:p14="http://schemas.microsoft.com/office/powerpoint/2010/main" val="255713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0E-914A-859C-654A-1404C12F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1913"/>
            <a:ext cx="10018713" cy="974888"/>
          </a:xfrm>
        </p:spPr>
        <p:txBody>
          <a:bodyPr/>
          <a:lstStyle/>
          <a:p>
            <a:r>
              <a:rPr lang="en-IN" b="1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E94E7-FAB2-ED8F-D863-6904CAE6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66801"/>
            <a:ext cx="10018713" cy="4724399"/>
          </a:xfrm>
        </p:spPr>
        <p:txBody>
          <a:bodyPr anchor="t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1.Implicit: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Coercion: Automatic type conversion by JavaScript to make expressions work even if data types don't match.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2.Explicit conversion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5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25C-72E0-FD71-1EC8-16D0E128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909" y="205034"/>
            <a:ext cx="10018713" cy="381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9FBB-183D-08DA-5420-7D635F3DC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91852"/>
            <a:ext cx="10431170" cy="5750349"/>
          </a:xfrm>
        </p:spPr>
        <p:txBody>
          <a:bodyPr anchor="t">
            <a:noAutofit/>
          </a:bodyPr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String conversion occurs when we output something, concatenate strings, or perform certain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JavaScript implicitly converts other types to strings when they are used in string operations.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result1 = "Hello" + " " + "World";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console.log(result1); // "Hello World"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Mixing Numbers and Strings in Concatenation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console.log("5" + 2 + 3); // "523" - Number 2 and 3 are coerced into strings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console.log(5 + 2 + "3"); // "73" - Number 5 and 2  are operate and concatenated.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console.log("hello" + true);//’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hellotrue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true coerced into string and concatenated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----------------------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 Explicit String Conversion using String()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value = 100;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= String(value);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"100"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console.log(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typeof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convertedToString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); // "string"</a:t>
            </a:r>
          </a:p>
        </p:txBody>
      </p:sp>
    </p:spTree>
    <p:extLst>
      <p:ext uri="{BB962C8B-B14F-4D97-AF65-F5344CB8AC3E}">
        <p14:creationId xmlns:p14="http://schemas.microsoft.com/office/powerpoint/2010/main" val="3420117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5A2A-4218-1EED-DDE4-D3F84EF5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"/>
            <a:ext cx="10018713" cy="1310326"/>
          </a:xfrm>
        </p:spPr>
        <p:txBody>
          <a:bodyPr/>
          <a:lstStyle/>
          <a:p>
            <a:r>
              <a:rPr lang="en-IN" b="1" dirty="0"/>
              <a:t>Number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1FF-1B11-E2E9-948C-CE7996CC4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68924"/>
            <a:ext cx="10327476" cy="5184741"/>
          </a:xfrm>
        </p:spPr>
        <p:txBody>
          <a:bodyPr anchor="t">
            <a:noAutofit/>
          </a:bodyPr>
          <a:lstStyle/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Numeric conversion happens when we perform mathematical operations.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JavaScript tries to convert values to numbers when used with arithmetic operators.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result4 = "10" * 2;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console.log(result4); // 20 - "10" is coerced to number 10 for multiplication.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result5 = Number("5") + 3;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console.log(result5); // 8 - Explicit numeric conversion using Number()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Edge Case - Non-numeric strings convert to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result6 = Number("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");</a:t>
            </a:r>
          </a:p>
          <a:p>
            <a:pPr algn="just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console.log(result6); //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(Not a Number)</a:t>
            </a:r>
          </a:p>
          <a:p>
            <a:pPr algn="just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9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E46-E51C-30D2-51E0-93AABC33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167327"/>
            <a:ext cx="10018713" cy="765928"/>
          </a:xfrm>
        </p:spPr>
        <p:txBody>
          <a:bodyPr/>
          <a:lstStyle/>
          <a:p>
            <a:r>
              <a:rPr lang="en-IN" b="1" dirty="0"/>
              <a:t>Truthy vs </a:t>
            </a:r>
            <a:r>
              <a:rPr lang="en-IN" b="1" dirty="0" err="1"/>
              <a:t>Falsy</a:t>
            </a:r>
            <a:r>
              <a:rPr lang="en-IN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D73E-AB32-0ABD-3197-CE57F99AC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31217"/>
            <a:ext cx="10018713" cy="4659984"/>
          </a:xfrm>
        </p:spPr>
        <p:txBody>
          <a:bodyPr anchor="t"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Truthy values are values that evaluate to true in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contexts (e.g., all non-zero numbers, non-empty strings).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values are values that evaluate to false (e.g., 0, "", null, undefined,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false).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 // Output: true (truthy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value)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 // Output: false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096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031D-0791-549C-7FE3-70FA9F6B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935610"/>
          </a:xfrm>
        </p:spPr>
        <p:txBody>
          <a:bodyPr/>
          <a:lstStyle/>
          <a:p>
            <a:r>
              <a:rPr lang="en-IN" b="1" dirty="0"/>
              <a:t>Boolean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B86EF-F8A2-3EA1-ECEE-438FCF69C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01279"/>
            <a:ext cx="10018713" cy="4989922"/>
          </a:xfrm>
        </p:spPr>
        <p:txBody>
          <a:bodyPr anchor="t"/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Boolean conversion occurs in logical contexts, and some values are inherently "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falsy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console.log(Boolean(0));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console.log(Boolean(""));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console.log(Boolean(undefined));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console.log(Boolean(null)); // false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console.log(Boolean("hello"));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console.log(Boolean(1)); // true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console.log(Boolean(10.0)); // true</a:t>
            </a:r>
          </a:p>
        </p:txBody>
      </p:sp>
    </p:spTree>
    <p:extLst>
      <p:ext uri="{BB962C8B-B14F-4D97-AF65-F5344CB8AC3E}">
        <p14:creationId xmlns:p14="http://schemas.microsoft.com/office/powerpoint/2010/main" val="4104652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8147-1082-62DF-1F73-7A43FC2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b="1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62BB-3184-B7CC-1B6F-EF726C20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4414887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Simple 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If- else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Ladder-if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Nested-If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Switch case</a:t>
            </a:r>
          </a:p>
        </p:txBody>
      </p:sp>
    </p:spTree>
    <p:extLst>
      <p:ext uri="{BB962C8B-B14F-4D97-AF65-F5344CB8AC3E}">
        <p14:creationId xmlns:p14="http://schemas.microsoft.com/office/powerpoint/2010/main" val="2026955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48A74-A51E-9005-017A-EFF07974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63" y="190500"/>
            <a:ext cx="10018713" cy="1223521"/>
          </a:xfrm>
        </p:spPr>
        <p:txBody>
          <a:bodyPr/>
          <a:lstStyle/>
          <a:p>
            <a:r>
              <a:rPr lang="en-IN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8E2F5-31F3-82C6-A097-8EEACACCA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762" y="1310327"/>
            <a:ext cx="10563145" cy="4471447"/>
          </a:xfrm>
        </p:spPr>
        <p:txBody>
          <a:bodyPr anchor="t"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**While Loop**: Repeats a block of code as long as a specified condition is true.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**Do...While Loop**: Similar to the while loop but ensures the code runs at least once.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**For Loop**: A loop with initialization, condition, and increment all in one line, often used when the number of iterations is known.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**For...In Loop**: Used to iterate over the properties of an object.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**For...Of Loop**: Used to iterate over the values in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like an array or string.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178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E361-15AB-B0F1-0BD5-453B027F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55" y="91912"/>
            <a:ext cx="10018713" cy="1095866"/>
          </a:xfrm>
        </p:spPr>
        <p:txBody>
          <a:bodyPr/>
          <a:lstStyle/>
          <a:p>
            <a:r>
              <a:rPr lang="en-IN" b="1" dirty="0" err="1"/>
              <a:t>For..of</a:t>
            </a:r>
            <a:r>
              <a:rPr lang="en-IN" b="1" dirty="0"/>
              <a:t> and </a:t>
            </a:r>
            <a:r>
              <a:rPr lang="en-IN" b="1" dirty="0" err="1"/>
              <a:t>for..in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AEA2-E5D9-68C2-0ED7-4F3CAEA4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19"/>
            <a:ext cx="10018713" cy="4518582"/>
          </a:xfrm>
        </p:spPr>
        <p:txBody>
          <a:bodyPr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for...of: Iterates over values of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 (arrays, strings, maps, etc.).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iterate over the actual values, not the indexes/keys.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for...in: Iterates over keys of an object or indexes of an array.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when you need to access object keys or array indexes.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09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2A61-7344-9CA6-62B6-F4F5AC35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96" y="0"/>
            <a:ext cx="10018713" cy="867266"/>
          </a:xfrm>
        </p:spPr>
        <p:txBody>
          <a:bodyPr>
            <a:normAutofit/>
          </a:bodyPr>
          <a:lstStyle/>
          <a:p>
            <a:r>
              <a:rPr lang="en-IN" b="1" dirty="0"/>
              <a:t>For-of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CE605-0B07-D1DF-5CD2-5A4D8A59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899" y="791852"/>
            <a:ext cx="10322350" cy="5920033"/>
          </a:xfrm>
        </p:spPr>
        <p:txBody>
          <a:bodyPr>
            <a:noAutofit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element of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iterable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element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array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fruits = ["Apple", "Banana", "Cherry"];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fruit of fruits)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console.log(fruit); // Prints "Apple", "Banana", "Cherry"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string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let greeting = "Hello";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for (let char of greeting) {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console.log(char); // Prints "H", "e", "l", "l", "o"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99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E8CE-118C-F5E0-76DD-4C42F9F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66223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362D9-99F8-2ADC-60DF-76E21605A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01" y="662233"/>
            <a:ext cx="6183983" cy="5128968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object)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// Code to execute for each key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person =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name: "Alice",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age: 25,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city: "New York"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(let key in person) {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console.log(key + ": " + person[key]);  //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Prints"name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Alice", "age: 25", "city: New York“ 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BCEC2-C345-A7E2-403B-6357AC4A261A}"/>
              </a:ext>
            </a:extLst>
          </p:cNvPr>
          <p:cNvSpPr txBox="1"/>
          <p:nvPr/>
        </p:nvSpPr>
        <p:spPr>
          <a:xfrm>
            <a:off x="6278251" y="1531855"/>
            <a:ext cx="61839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numbers = [10, 20, 30];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(let index in numbers)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console.log(index + ": " +numbers[index]);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} // Prints "0: 10", "1: 20", "2: 30"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001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3F01-8B09-2DA6-B0DD-1C2C2C19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20191"/>
            <a:ext cx="10018713" cy="775355"/>
          </a:xfrm>
        </p:spPr>
        <p:txBody>
          <a:bodyPr/>
          <a:lstStyle/>
          <a:p>
            <a:r>
              <a:rPr lang="en-IN" b="1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333BA-4DDE-B2F8-2E25-7E88A4D06B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619" y="1121003"/>
            <a:ext cx="106805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reusable blocks of code designed to perform specific tasks. They allow us to execute the same code at multiple points in a program, making it easier to manage, debug, and maintain.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are important for modular programming, enabling code reusability and reducing redundancy.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Types of Functions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-----------------------------------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Declaration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Defines a function with a name.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 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Functions assigned to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Arrow Functions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shorter syntax for writing functions (ES6+). </a:t>
            </a:r>
          </a:p>
        </p:txBody>
      </p:sp>
    </p:spTree>
    <p:extLst>
      <p:ext uri="{BB962C8B-B14F-4D97-AF65-F5344CB8AC3E}">
        <p14:creationId xmlns:p14="http://schemas.microsoft.com/office/powerpoint/2010/main" val="1180047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67EA-4481-6381-F2D3-3F0C4D3A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3810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3B6123-E602-4BD9-C4DB-9B9B27586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AFDF08-2859-9EAB-8511-DBE5CA7DF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685801"/>
            <a:ext cx="10503102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29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DE9-3003-EC74-4480-E16338B8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928840-AAF9-54A1-FEE6-D9C4BAC3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771" y="685800"/>
            <a:ext cx="9977253" cy="5696146"/>
          </a:xfrm>
        </p:spPr>
      </p:pic>
    </p:spTree>
    <p:extLst>
      <p:ext uri="{BB962C8B-B14F-4D97-AF65-F5344CB8AC3E}">
        <p14:creationId xmlns:p14="http://schemas.microsoft.com/office/powerpoint/2010/main" val="1988053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3087-8150-2F28-8CDC-C1F54A57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205034"/>
            <a:ext cx="10018713" cy="935610"/>
          </a:xfrm>
        </p:spPr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56A0EF-BC8A-E01F-DFD6-66C19F8AEF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289" y="1140644"/>
            <a:ext cx="97390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Arrays store a list of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to manipulate arrays: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push()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shift()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unshift()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numbers = [1, 2, 3, 4, 5];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(6); // Adds 6 at the 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console.log(numbers); // [1, 2, 3,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squares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numbers.map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(num =&gt; num * num);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console.log(squares); // [1, 4, 9, 16, 25, 36]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4765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3CB3-B475-2383-A94C-E31955F4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C664-5D8F-BC4A-7EF7-64A37DF1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6948"/>
            <a:ext cx="10018713" cy="57032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 Element to an Array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add elements to an array using built-in methods like push() and unshift().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Using the push()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push() method adds an element at the end of the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Using the unshift() Method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unshift() method adds an element at the beginning of the array.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using pop() and shift() methods.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 array using built-in methods like pop() and shift().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Remove the last element using pop().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Remove the first element using shift().</a:t>
            </a:r>
          </a:p>
          <a:p>
            <a:pPr algn="just"/>
            <a:r>
              <a:rPr lang="en-US" sz="24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Length of an Array.</a:t>
            </a:r>
          </a:p>
          <a:p>
            <a:pPr algn="just"/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find the length of an array using the length property.</a:t>
            </a:r>
            <a:endParaRPr lang="en-IN" sz="24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47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D454-ADE9-6D6D-8311-7D2C964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7"/>
            <a:ext cx="10018713" cy="709367"/>
          </a:xfrm>
        </p:spPr>
        <p:txBody>
          <a:bodyPr/>
          <a:lstStyle/>
          <a:p>
            <a:r>
              <a:rPr lang="en-IN" b="1" dirty="0"/>
              <a:t>Array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8208E-F3FE-C8A8-0C4A-9EAF41935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004" y="1743959"/>
            <a:ext cx="10018713" cy="3528767"/>
          </a:xfrm>
        </p:spPr>
        <p:txBody>
          <a:bodyPr>
            <a:noAutofit/>
          </a:bodyPr>
          <a:lstStyle/>
          <a:p>
            <a:pPr algn="just"/>
            <a:r>
              <a:rPr lang="en-US" sz="2000" b="1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 Elements From an Array at specified index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can remove an element from any specified index of an array using the splice() method.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 numbers = [1, 2, 3, 4, 5];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remove one element starting from index 2</a:t>
            </a:r>
          </a:p>
          <a:p>
            <a:pPr algn="just"/>
            <a:r>
              <a:rPr lang="en-US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numbers.splice</a:t>
            </a: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(2, 1);</a:t>
            </a:r>
          </a:p>
          <a:p>
            <a:pPr algn="just"/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console.log(numbers);</a:t>
            </a:r>
          </a:p>
          <a:p>
            <a:pPr algn="just"/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Output: [ 1, 2, 4, 5 ]</a:t>
            </a:r>
            <a:endParaRPr lang="en-IN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21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7DC0-9691-4A24-2B92-FC22E153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43" y="170470"/>
            <a:ext cx="10018713" cy="1752599"/>
          </a:xfrm>
        </p:spPr>
        <p:txBody>
          <a:bodyPr/>
          <a:lstStyle/>
          <a:p>
            <a:r>
              <a:rPr lang="en-IN" b="1" dirty="0"/>
              <a:t>Multi-Dimensional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B432-CFC3-FCBB-CF67-7C8521B9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7715"/>
            <a:ext cx="10018713" cy="4273486"/>
          </a:xfrm>
        </p:spPr>
        <p:txBody>
          <a:bodyPr>
            <a:noAutofit/>
          </a:bodyPr>
          <a:lstStyle/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JavaScript, multidimensional arrays contain another array inside them.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multidimensional array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contains 3 separate arrays as elements</a:t>
            </a:r>
          </a:p>
          <a:p>
            <a:pPr algn="just"/>
            <a:r>
              <a:rPr lang="en-IN" sz="20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const</a:t>
            </a:r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= [[1, 2, 3], [1, 3, 4], [4, 5, 6]];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console.log(data);</a:t>
            </a:r>
          </a:p>
          <a:p>
            <a:pPr algn="just"/>
            <a:r>
              <a:rPr lang="en-IN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// Output : [ [ 1, 2, 3 ], [ 1, 3, 4 ], [ 4, 5, 6 ] ]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075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82E0-8F00-D0B1-F342-7D02F09A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53" y="0"/>
            <a:ext cx="10018713" cy="1152427"/>
          </a:xfrm>
        </p:spPr>
        <p:txBody>
          <a:bodyPr/>
          <a:lstStyle/>
          <a:p>
            <a:r>
              <a:rPr lang="en-IN" b="1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02D2B-5D42-1C9C-2DA7-40F8E384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54665"/>
            <a:ext cx="10018713" cy="3236536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JavaScript string is a primitive data type that represents textual data.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For example, let name = "John";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1. JavaScript Strings are Immutable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JavaScript, the characters of a string cannot be changed. 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message = "hello";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message[0] = "H";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console.log(message);  // hello</a:t>
            </a:r>
          </a:p>
          <a:p>
            <a:pPr marL="457200" lvl="1" indent="0" algn="just"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2. JavaScript Strings are Case-Sensitive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In JavaScript., the lowercase and uppercase letters are treated as different values. let value1 = "a";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let value2 = "A"</a:t>
            </a:r>
          </a:p>
          <a:p>
            <a:pPr marL="457200" lvl="1" indent="0" algn="just">
              <a:buNone/>
            </a:pPr>
            <a:r>
              <a:rPr lang="en-US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console.log(value1 == value2);  // false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9969-CDFE-FC4A-6647-86FD6772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470" y="318156"/>
            <a:ext cx="10018713" cy="954464"/>
          </a:xfrm>
        </p:spPr>
        <p:txBody>
          <a:bodyPr/>
          <a:lstStyle/>
          <a:p>
            <a:r>
              <a:rPr lang="en-IN" b="1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E1EF-C439-BB6F-583E-3665F2B4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2621"/>
            <a:ext cx="10018713" cy="451858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charAt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Returns the character at the specified index.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concat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           Joins two or more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replace()	            Replace a string with another string.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split()	                  Converts the string to an array of strings.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toLowerCase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lowercase.</a:t>
            </a:r>
          </a:p>
          <a:p>
            <a:pPr marL="457200" lvl="1" indent="0" algn="just">
              <a:buNone/>
            </a:pP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toUpperCase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	Returns the passed string in uppercase.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trim()	                  Removes whitespace from the strings.</a:t>
            </a:r>
          </a:p>
          <a:p>
            <a:pPr marL="457200" lvl="1" indent="0" algn="just">
              <a:buNone/>
            </a:pP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includes()	            Searches for a string and returns a </a:t>
            </a:r>
            <a:r>
              <a:rPr lang="en-US" sz="2400" b="0" i="0" dirty="0" err="1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boolean</a:t>
            </a:r>
            <a:r>
              <a:rPr lang="en-US" sz="2400" b="0" i="0" dirty="0"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value.</a:t>
            </a:r>
            <a:endParaRPr lang="en-IN" sz="2400" b="0" i="0" dirty="0"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524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1944-F942-E39D-45DD-DEBEB086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01338"/>
            <a:ext cx="10018713" cy="5208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Object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2671D7-8E23-A2FC-1528-29C88C33C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932467"/>
            <a:ext cx="1031804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 are collections of properties and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key-value pair.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function that is a property of an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object is a variable that can store multiple data in key-value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syntax of JavaScript object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key1: value1,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create person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 person =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name: "John",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age: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};console.log(person); // Output: { name: "John", age: 20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C7D8-3F60-C472-3D79-D930D0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797" y="2904181"/>
            <a:ext cx="4494251" cy="29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24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14DC-3B6B-1E83-D20D-3FCB0AAA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997277"/>
          </a:xfrm>
        </p:spPr>
        <p:txBody>
          <a:bodyPr/>
          <a:lstStyle/>
          <a:p>
            <a:r>
              <a:rPr lang="en-IN" b="1" dirty="0"/>
              <a:t>Constructor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041D-D212-98C0-CA8C-DF580CAE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84953"/>
            <a:ext cx="10018713" cy="312420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Constructor Functions: Special functions used to create and initialize objects.</a:t>
            </a:r>
          </a:p>
          <a:p>
            <a:pPr algn="just"/>
            <a:r>
              <a:rPr lang="en-US" dirty="0"/>
              <a:t>new Keyword: Used to create a new instance of an object using a constructor.</a:t>
            </a:r>
          </a:p>
          <a:p>
            <a:pPr algn="just"/>
            <a:r>
              <a:rPr lang="en-US" dirty="0"/>
              <a:t>Definition:</a:t>
            </a:r>
          </a:p>
          <a:p>
            <a:pPr algn="just"/>
            <a:r>
              <a:rPr lang="en-US" dirty="0"/>
              <a:t>A constructor function is used to create and initialize objects.</a:t>
            </a:r>
          </a:p>
          <a:p>
            <a:pPr algn="just"/>
            <a:r>
              <a:rPr lang="en-US" dirty="0"/>
              <a:t>Constructor functions are typically named with a capital letter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0896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A0D7-265B-6109-C754-FBC6B9C46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7901"/>
            <a:ext cx="10018713" cy="57503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Constructor Function</a:t>
            </a:r>
          </a:p>
          <a:p>
            <a:r>
              <a:rPr lang="en-US" dirty="0"/>
              <a:t>function Person(name, age) {</a:t>
            </a:r>
          </a:p>
          <a:p>
            <a:r>
              <a:rPr lang="en-US" dirty="0"/>
              <a:t>  this.name = name;</a:t>
            </a:r>
          </a:p>
          <a:p>
            <a:r>
              <a:rPr lang="en-US" dirty="0"/>
              <a:t>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</a:t>
            </a:r>
            <a:r>
              <a:rPr lang="en-US" dirty="0" err="1"/>
              <a:t>this.greet</a:t>
            </a:r>
            <a:r>
              <a:rPr lang="en-US" dirty="0"/>
              <a:t> = function() {</a:t>
            </a:r>
          </a:p>
          <a:p>
            <a:r>
              <a:rPr lang="en-US" dirty="0"/>
              <a:t>    console.log(`Hello, my name is ${this.name} and I'm ${</a:t>
            </a:r>
            <a:r>
              <a:rPr lang="en-US" dirty="0" err="1"/>
              <a:t>this.age</a:t>
            </a:r>
            <a:r>
              <a:rPr lang="en-US" dirty="0"/>
              <a:t>} years old.`);</a:t>
            </a:r>
          </a:p>
          <a:p>
            <a:r>
              <a:rPr lang="en-US" dirty="0"/>
              <a:t>  };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let person1 = new Person("Alice", 30);</a:t>
            </a:r>
          </a:p>
          <a:p>
            <a:r>
              <a:rPr lang="en-US" dirty="0"/>
              <a:t>let person2 = new Person("Bob", 25);</a:t>
            </a:r>
          </a:p>
          <a:p>
            <a:endParaRPr lang="en-US" dirty="0"/>
          </a:p>
          <a:p>
            <a:r>
              <a:rPr lang="en-US" dirty="0"/>
              <a:t>person1.greet(); // "Hello, my name is Alice and I'm 30 years old."</a:t>
            </a:r>
          </a:p>
          <a:p>
            <a:r>
              <a:rPr lang="en-US" dirty="0"/>
              <a:t>person2.greet(); // "Hello, my name is Bob and I'm 25 years old."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20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DC55-C0F0-D227-D193-9EA9186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50" y="362145"/>
            <a:ext cx="10018713" cy="756501"/>
          </a:xfrm>
        </p:spPr>
        <p:txBody>
          <a:bodyPr/>
          <a:lstStyle/>
          <a:p>
            <a:r>
              <a:rPr lang="en-IN" b="1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4E0C-1BF8-CEAA-BB6F-AECCA7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73" y="1442301"/>
            <a:ext cx="5606048" cy="5053554"/>
          </a:xfrm>
        </p:spPr>
        <p:txBody>
          <a:bodyPr anchor="t">
            <a:normAutofit/>
          </a:bodyPr>
          <a:lstStyle/>
          <a:p>
            <a:pPr algn="just"/>
            <a:r>
              <a:rPr lang="en-US" dirty="0"/>
              <a:t>Refers to the current object in which it is used.</a:t>
            </a:r>
          </a:p>
          <a:p>
            <a:pPr algn="just"/>
            <a:r>
              <a:rPr lang="en-US" dirty="0"/>
              <a:t>In global context, this refers to the global object (window in browsers).</a:t>
            </a:r>
          </a:p>
          <a:p>
            <a:pPr algn="just"/>
            <a:r>
              <a:rPr lang="en-US" dirty="0"/>
              <a:t>Inside methods, this refers to the object that owns the method.</a:t>
            </a:r>
          </a:p>
          <a:p>
            <a:pPr algn="just"/>
            <a:r>
              <a:rPr lang="en-US" dirty="0"/>
              <a:t>In constructor functions, this refers to the newly created object.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C2CB3-44BC-6D81-4DEA-050F7EFDB651}"/>
              </a:ext>
            </a:extLst>
          </p:cNvPr>
          <p:cNvSpPr txBox="1"/>
          <p:nvPr/>
        </p:nvSpPr>
        <p:spPr>
          <a:xfrm>
            <a:off x="7277493" y="1442301"/>
            <a:ext cx="46097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function Car(brand, model) {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this.brand</a:t>
            </a:r>
            <a:r>
              <a:rPr lang="en-IN" sz="2400" dirty="0"/>
              <a:t> = brand;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this.model</a:t>
            </a:r>
            <a:r>
              <a:rPr lang="en-IN" sz="2400" dirty="0"/>
              <a:t> = model;</a:t>
            </a:r>
          </a:p>
          <a:p>
            <a:r>
              <a:rPr lang="en-IN" sz="2400" dirty="0"/>
              <a:t>  </a:t>
            </a:r>
            <a:r>
              <a:rPr lang="en-IN" sz="2400" dirty="0" err="1"/>
              <a:t>this.displayInfo</a:t>
            </a:r>
            <a:r>
              <a:rPr lang="en-IN" sz="2400" dirty="0"/>
              <a:t> = function() {</a:t>
            </a:r>
          </a:p>
          <a:p>
            <a:r>
              <a:rPr lang="en-IN" sz="2400" dirty="0"/>
              <a:t>    console.log(`Car: ${</a:t>
            </a:r>
            <a:r>
              <a:rPr lang="en-IN" sz="2400" dirty="0" err="1"/>
              <a:t>this.brand</a:t>
            </a:r>
            <a:r>
              <a:rPr lang="en-IN" sz="2400" dirty="0"/>
              <a:t>} ${</a:t>
            </a:r>
            <a:r>
              <a:rPr lang="en-IN" sz="2400" dirty="0" err="1"/>
              <a:t>this.model</a:t>
            </a:r>
            <a:r>
              <a:rPr lang="en-IN" sz="2400" dirty="0"/>
              <a:t>}`);</a:t>
            </a:r>
          </a:p>
          <a:p>
            <a:r>
              <a:rPr lang="en-IN" sz="2400" dirty="0"/>
              <a:t>  };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let </a:t>
            </a:r>
            <a:r>
              <a:rPr lang="en-IN" sz="2400" dirty="0" err="1"/>
              <a:t>myCar</a:t>
            </a:r>
            <a:r>
              <a:rPr lang="en-IN" sz="2400" dirty="0"/>
              <a:t> = new Car("Toyota", "Corolla");</a:t>
            </a:r>
          </a:p>
          <a:p>
            <a:r>
              <a:rPr lang="en-IN" sz="2400" dirty="0" err="1"/>
              <a:t>myCar.displayInfo</a:t>
            </a:r>
            <a:r>
              <a:rPr lang="en-IN" sz="2400" dirty="0"/>
              <a:t>(); // "Car: Toyota Corolla"</a:t>
            </a:r>
          </a:p>
        </p:txBody>
      </p:sp>
    </p:spTree>
    <p:extLst>
      <p:ext uri="{BB962C8B-B14F-4D97-AF65-F5344CB8AC3E}">
        <p14:creationId xmlns:p14="http://schemas.microsoft.com/office/powerpoint/2010/main" val="1615679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4624-E372-40EE-3397-036B736C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82019"/>
            <a:ext cx="10018713" cy="784781"/>
          </a:xfrm>
        </p:spPr>
        <p:txBody>
          <a:bodyPr/>
          <a:lstStyle/>
          <a:p>
            <a:r>
              <a:rPr lang="en-IN" b="1" dirty="0"/>
              <a:t>OOP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52B3-7A08-13D6-2AE7-624F79434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895" y="1356673"/>
            <a:ext cx="10018713" cy="4431385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/>
              <a:t>OOP </a:t>
            </a:r>
            <a:r>
              <a:rPr lang="en-US" b="1" dirty="0" err="1"/>
              <a:t>Principles</a:t>
            </a:r>
            <a:r>
              <a:rPr lang="en-US" dirty="0" err="1"/>
              <a:t>:</a:t>
            </a:r>
            <a:r>
              <a:rPr lang="en-US" b="1" dirty="0" err="1"/>
              <a:t>Encapsulation</a:t>
            </a:r>
            <a:r>
              <a:rPr lang="en-US" dirty="0"/>
              <a:t>: Bundling data (properties) and methods that operate on the data into a single unit (object).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Inheritance</a:t>
            </a:r>
            <a:r>
              <a:rPr lang="en-US" dirty="0"/>
              <a:t>: A mechanism where one class can inherit the properties and methods from another class.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Polymorphism</a:t>
            </a:r>
            <a:r>
              <a:rPr lang="en-US" dirty="0"/>
              <a:t>: The ability of different objects to respond to the same method in their own way.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Abstraction</a:t>
            </a:r>
            <a:r>
              <a:rPr lang="en-US" dirty="0"/>
              <a:t>: Hiding the complex implementation details and showing only essential features to the user.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4974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3729-01D2-0DC1-A9A5-881328B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2592"/>
            <a:ext cx="10018713" cy="794208"/>
          </a:xfrm>
        </p:spPr>
        <p:txBody>
          <a:bodyPr/>
          <a:lstStyle/>
          <a:p>
            <a:r>
              <a:rPr lang="en-IN" b="1" dirty="0"/>
              <a:t>Encapsulation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2FF822-17B0-9DDB-2741-C4BFE9127B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1490008"/>
            <a:ext cx="101012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refers to bundling data and methods that work on that data within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achieved by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can 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getter/setter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access to object properties. </a:t>
            </a:r>
          </a:p>
        </p:txBody>
      </p:sp>
    </p:spTree>
    <p:extLst>
      <p:ext uri="{BB962C8B-B14F-4D97-AF65-F5344CB8AC3E}">
        <p14:creationId xmlns:p14="http://schemas.microsoft.com/office/powerpoint/2010/main" val="809282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CEBF23-9DD2-0ECE-2342-C61F7EF4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7AB6A-65EB-9062-98E6-61F7FEE9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38" y="740371"/>
            <a:ext cx="10341204" cy="5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631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22E6-C791-1C1B-E9D3-AA7C96618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23330"/>
          </a:xfrm>
        </p:spPr>
        <p:txBody>
          <a:bodyPr/>
          <a:lstStyle/>
          <a:p>
            <a:r>
              <a:rPr lang="en-IN" b="1" dirty="0"/>
              <a:t>Polymorphism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A01E1E-C9B5-F3F8-C6D5-19E5EFDD2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1609131"/>
            <a:ext cx="1027091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different classes to have methods with the same name, but with different implementations.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overriding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in inheritance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is interpreted programming language so decisions will be taking at run time not at compile time so method overloading is not supported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Method Overriding is possible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094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1A29-7D81-5EE5-4DDF-05B3C24A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E8E-8767-9A27-6E0F-81592849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6FBC-BB40-B449-58BC-A66F9C2B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535537"/>
            <a:ext cx="10737131" cy="578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2A5B-A9A3-1CEA-7BB3-FCC70740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1509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5878E-1E1B-09DB-2A04-E9EBC45A2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084" y="801278"/>
            <a:ext cx="10955458" cy="4989922"/>
          </a:xfrm>
        </p:spPr>
      </p:pic>
    </p:spTree>
    <p:extLst>
      <p:ext uri="{BB962C8B-B14F-4D97-AF65-F5344CB8AC3E}">
        <p14:creationId xmlns:p14="http://schemas.microsoft.com/office/powerpoint/2010/main" val="35030358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ED04-5097-A7E0-F413-34E3AF5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23" y="82486"/>
            <a:ext cx="10018713" cy="907330"/>
          </a:xfrm>
        </p:spPr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2864-3D70-D576-DFE3-48AEE0FA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923041"/>
            <a:ext cx="10440596" cy="4582213"/>
          </a:xfrm>
        </p:spPr>
        <p:txBody>
          <a:bodyPr anchor="t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allows one object (child) to inherit the properties and methods of another object (parent).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JavaScript uses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prototype-based inheritance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programming, inheritance refers to passing down characteristics from a parent to a child so that a new piece of code can reuse and build upon the features of an existing one.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JavaScript implements inheritance by using objects.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Each object has an internal link to another object called its prototype. That prototype object has a prototype of its own, and so on until an object is reached with null as its prototype.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definition, null has no prototype and acts as the final link in this prototype chain.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It is possible to mutate any member of the prototype chain or even swap out the prototype at runtime, so concepts like static dispatching do not exist in JavaScript.</a:t>
            </a:r>
          </a:p>
          <a:p>
            <a:pPr algn="just"/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72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4614-1810-FDD6-E08C-88294C3CC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368CF7-AB67-98B7-A538-3ACD1BA6A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7519" y="249756"/>
            <a:ext cx="691696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7" dirty="0">
                <a:solidFill>
                  <a:srgbClr val="000000"/>
                </a:solidFill>
              </a:rPr>
              <a:t>Inheritance</a:t>
            </a:r>
            <a:r>
              <a:rPr lang="en-IN" b="1" spc="-7" dirty="0">
                <a:solidFill>
                  <a:srgbClr val="000000"/>
                </a:solidFill>
              </a:rPr>
              <a:t> Types</a:t>
            </a:r>
            <a:endParaRPr b="1" spc="-7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2B7446D-16B6-970E-4F0A-57C01C2FB778}"/>
              </a:ext>
            </a:extLst>
          </p:cNvPr>
          <p:cNvSpPr/>
          <p:nvPr/>
        </p:nvSpPr>
        <p:spPr>
          <a:xfrm>
            <a:off x="793665" y="5723988"/>
            <a:ext cx="2696633" cy="368300"/>
          </a:xfrm>
          <a:custGeom>
            <a:avLst/>
            <a:gdLst/>
            <a:ahLst/>
            <a:cxnLst/>
            <a:rect l="l" t="t" r="r" b="b"/>
            <a:pathLst>
              <a:path w="2022475" h="276225">
                <a:moveTo>
                  <a:pt x="2022348" y="0"/>
                </a:moveTo>
                <a:lnTo>
                  <a:pt x="0" y="0"/>
                </a:lnTo>
                <a:lnTo>
                  <a:pt x="0" y="275844"/>
                </a:lnTo>
                <a:lnTo>
                  <a:pt x="2022348" y="275844"/>
                </a:lnTo>
                <a:lnTo>
                  <a:pt x="20223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7E25F8-6560-2220-22D7-438B9EBE14A7}"/>
              </a:ext>
            </a:extLst>
          </p:cNvPr>
          <p:cNvSpPr txBox="1"/>
          <p:nvPr/>
        </p:nvSpPr>
        <p:spPr>
          <a:xfrm>
            <a:off x="887731" y="5815950"/>
            <a:ext cx="19939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Single </a:t>
            </a:r>
            <a:r>
              <a:rPr sz="1600" b="1" spc="-13" dirty="0">
                <a:latin typeface="Calibri"/>
                <a:cs typeface="Calibri"/>
              </a:rPr>
              <a:t>level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E073C1B-5E62-4728-1EF4-884E42030508}"/>
              </a:ext>
            </a:extLst>
          </p:cNvPr>
          <p:cNvSpPr/>
          <p:nvPr/>
        </p:nvSpPr>
        <p:spPr>
          <a:xfrm>
            <a:off x="5012945" y="5970015"/>
            <a:ext cx="2584873" cy="368300"/>
          </a:xfrm>
          <a:custGeom>
            <a:avLst/>
            <a:gdLst/>
            <a:ahLst/>
            <a:cxnLst/>
            <a:rect l="l" t="t" r="r" b="b"/>
            <a:pathLst>
              <a:path w="1938654" h="276225">
                <a:moveTo>
                  <a:pt x="1938527" y="0"/>
                </a:moveTo>
                <a:lnTo>
                  <a:pt x="0" y="0"/>
                </a:lnTo>
                <a:lnTo>
                  <a:pt x="0" y="275844"/>
                </a:lnTo>
                <a:lnTo>
                  <a:pt x="1938527" y="275844"/>
                </a:lnTo>
                <a:lnTo>
                  <a:pt x="19385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952B62C-2BE3-87D1-5D92-D7DBB5C10D4D}"/>
              </a:ext>
            </a:extLst>
          </p:cNvPr>
          <p:cNvSpPr txBox="1"/>
          <p:nvPr/>
        </p:nvSpPr>
        <p:spPr>
          <a:xfrm>
            <a:off x="5323161" y="6003070"/>
            <a:ext cx="1964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latin typeface="Calibri"/>
                <a:cs typeface="Calibri"/>
              </a:rPr>
              <a:t>Multi-level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2D81417-A56D-E4D7-685A-A10256499889}"/>
              </a:ext>
            </a:extLst>
          </p:cNvPr>
          <p:cNvSpPr txBox="1"/>
          <p:nvPr/>
        </p:nvSpPr>
        <p:spPr>
          <a:xfrm>
            <a:off x="8784336" y="5994401"/>
            <a:ext cx="3219027" cy="297517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607045">
              <a:spcBef>
                <a:spcPts val="400"/>
              </a:spcBef>
            </a:pPr>
            <a:r>
              <a:rPr sz="1600" b="1" spc="-13" dirty="0">
                <a:latin typeface="Calibri"/>
                <a:cs typeface="Calibri"/>
              </a:rPr>
              <a:t>Hierarchical</a:t>
            </a:r>
            <a:r>
              <a:rPr sz="1600" b="1" spc="-27" dirty="0">
                <a:latin typeface="Calibri"/>
                <a:cs typeface="Calibri"/>
              </a:rPr>
              <a:t> </a:t>
            </a:r>
            <a:r>
              <a:rPr sz="1600" b="1" spc="-7" dirty="0">
                <a:solidFill>
                  <a:srgbClr val="FFFFFF"/>
                </a:solidFill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0D111F-CFCF-903B-45AF-B6253961BC6B}"/>
              </a:ext>
            </a:extLst>
          </p:cNvPr>
          <p:cNvSpPr/>
          <p:nvPr/>
        </p:nvSpPr>
        <p:spPr>
          <a:xfrm>
            <a:off x="3508247" y="2291081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9898A5-3E8A-AEC1-50D9-EBF8DD6E0CF9}"/>
              </a:ext>
            </a:extLst>
          </p:cNvPr>
          <p:cNvSpPr/>
          <p:nvPr/>
        </p:nvSpPr>
        <p:spPr>
          <a:xfrm>
            <a:off x="7824215" y="2272793"/>
            <a:ext cx="0" cy="3489113"/>
          </a:xfrm>
          <a:custGeom>
            <a:avLst/>
            <a:gdLst/>
            <a:ahLst/>
            <a:cxnLst/>
            <a:rect l="l" t="t" r="r" b="b"/>
            <a:pathLst>
              <a:path h="2616835">
                <a:moveTo>
                  <a:pt x="0" y="0"/>
                </a:moveTo>
                <a:lnTo>
                  <a:pt x="0" y="2616619"/>
                </a:lnTo>
              </a:path>
            </a:pathLst>
          </a:custGeom>
          <a:ln w="19050">
            <a:solidFill>
              <a:srgbClr val="FFC000"/>
            </a:solidFill>
            <a:prstDash val="sysDot"/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1A27284B-43FF-84F5-52AA-640760B7DFEE}"/>
              </a:ext>
            </a:extLst>
          </p:cNvPr>
          <p:cNvGrpSpPr/>
          <p:nvPr/>
        </p:nvGrpSpPr>
        <p:grpSpPr>
          <a:xfrm>
            <a:off x="738124" y="3202939"/>
            <a:ext cx="2096347" cy="2148840"/>
            <a:chOff x="553593" y="2402204"/>
            <a:chExt cx="1572260" cy="1611630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A26F8D-22D8-D4DD-236F-01337E2B3296}"/>
                </a:ext>
              </a:extLst>
            </p:cNvPr>
            <p:cNvSpPr/>
            <p:nvPr/>
          </p:nvSpPr>
          <p:spPr>
            <a:xfrm>
              <a:off x="1338834" y="2411729"/>
              <a:ext cx="777240" cy="815340"/>
            </a:xfrm>
            <a:custGeom>
              <a:avLst/>
              <a:gdLst/>
              <a:ahLst/>
              <a:cxnLst/>
              <a:rect l="l" t="t" r="r" b="b"/>
              <a:pathLst>
                <a:path w="777239" h="815339">
                  <a:moveTo>
                    <a:pt x="0" y="723900"/>
                  </a:moveTo>
                  <a:lnTo>
                    <a:pt x="0" y="38100"/>
                  </a:lnTo>
                  <a:lnTo>
                    <a:pt x="641604" y="38100"/>
                  </a:lnTo>
                </a:path>
                <a:path w="777239" h="815339">
                  <a:moveTo>
                    <a:pt x="562355" y="0"/>
                  </a:moveTo>
                  <a:lnTo>
                    <a:pt x="641604" y="37083"/>
                  </a:lnTo>
                  <a:lnTo>
                    <a:pt x="562355" y="73151"/>
                  </a:lnTo>
                </a:path>
                <a:path w="777239" h="815339">
                  <a:moveTo>
                    <a:pt x="777240" y="38100"/>
                  </a:moveTo>
                  <a:lnTo>
                    <a:pt x="777240" y="815339"/>
                  </a:lnTo>
                  <a:lnTo>
                    <a:pt x="0" y="815339"/>
                  </a:lnTo>
                </a:path>
              </a:pathLst>
            </a:custGeom>
            <a:ln w="19050">
              <a:solidFill>
                <a:srgbClr val="00123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256CC34-9B02-5237-7F10-ADE120FAC8F5}"/>
                </a:ext>
              </a:extLst>
            </p:cNvPr>
            <p:cNvSpPr/>
            <p:nvPr/>
          </p:nvSpPr>
          <p:spPr>
            <a:xfrm>
              <a:off x="563118" y="3188969"/>
              <a:ext cx="775970" cy="815340"/>
            </a:xfrm>
            <a:custGeom>
              <a:avLst/>
              <a:gdLst/>
              <a:ahLst/>
              <a:cxnLst/>
              <a:rect l="l" t="t" r="r" b="b"/>
              <a:pathLst>
                <a:path w="775969" h="815339">
                  <a:moveTo>
                    <a:pt x="775716" y="38100"/>
                  </a:moveTo>
                  <a:lnTo>
                    <a:pt x="775716" y="815340"/>
                  </a:lnTo>
                  <a:lnTo>
                    <a:pt x="0" y="815340"/>
                  </a:lnTo>
                  <a:lnTo>
                    <a:pt x="0" y="38100"/>
                  </a:lnTo>
                  <a:lnTo>
                    <a:pt x="640232" y="38100"/>
                  </a:lnTo>
                </a:path>
                <a:path w="775969" h="815339">
                  <a:moveTo>
                    <a:pt x="562356" y="0"/>
                  </a:moveTo>
                  <a:lnTo>
                    <a:pt x="640079" y="37846"/>
                  </a:lnTo>
                  <a:lnTo>
                    <a:pt x="562356" y="74675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6C41A3BE-4AB6-6257-FA5B-49E97FCCBF06}"/>
              </a:ext>
            </a:extLst>
          </p:cNvPr>
          <p:cNvSpPr txBox="1"/>
          <p:nvPr/>
        </p:nvSpPr>
        <p:spPr>
          <a:xfrm>
            <a:off x="842602" y="4690025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4EA4A9-6330-3E8A-266C-4C1D28897D7C}"/>
              </a:ext>
            </a:extLst>
          </p:cNvPr>
          <p:cNvSpPr txBox="1"/>
          <p:nvPr/>
        </p:nvSpPr>
        <p:spPr>
          <a:xfrm>
            <a:off x="1884681" y="3631692"/>
            <a:ext cx="5731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D085EE7-D6ED-9C75-E5C9-2B15C3934E03}"/>
              </a:ext>
            </a:extLst>
          </p:cNvPr>
          <p:cNvGrpSpPr/>
          <p:nvPr/>
        </p:nvGrpSpPr>
        <p:grpSpPr>
          <a:xfrm>
            <a:off x="4109211" y="2178811"/>
            <a:ext cx="3120813" cy="3173307"/>
            <a:chOff x="3081908" y="1634108"/>
            <a:chExt cx="2340610" cy="237998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AFA57A-D2CA-D775-DBD2-76873EB8E7A9}"/>
                </a:ext>
              </a:extLst>
            </p:cNvPr>
            <p:cNvSpPr/>
            <p:nvPr/>
          </p:nvSpPr>
          <p:spPr>
            <a:xfrm>
              <a:off x="4638294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59307" y="0"/>
                  </a:moveTo>
                  <a:lnTo>
                    <a:pt x="637031" y="36829"/>
                  </a:lnTo>
                  <a:lnTo>
                    <a:pt x="559307" y="74675"/>
                  </a:lnTo>
                </a:path>
                <a:path w="774700" h="812800">
                  <a:moveTo>
                    <a:pt x="774191" y="36575"/>
                  </a:moveTo>
                  <a:lnTo>
                    <a:pt x="774191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95D6BA-6566-E429-01D6-09A378752663}"/>
                </a:ext>
              </a:extLst>
            </p:cNvPr>
            <p:cNvSpPr/>
            <p:nvPr/>
          </p:nvSpPr>
          <p:spPr>
            <a:xfrm>
              <a:off x="3862577" y="2419350"/>
              <a:ext cx="775970" cy="810895"/>
            </a:xfrm>
            <a:custGeom>
              <a:avLst/>
              <a:gdLst/>
              <a:ahLst/>
              <a:cxnLst/>
              <a:rect l="l" t="t" r="r" b="b"/>
              <a:pathLst>
                <a:path w="77597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5970" h="810894">
                  <a:moveTo>
                    <a:pt x="560832" y="0"/>
                  </a:moveTo>
                  <a:lnTo>
                    <a:pt x="640080" y="37083"/>
                  </a:lnTo>
                  <a:lnTo>
                    <a:pt x="560832" y="73151"/>
                  </a:lnTo>
                </a:path>
                <a:path w="775970" h="810894">
                  <a:moveTo>
                    <a:pt x="775716" y="36575"/>
                  </a:moveTo>
                  <a:lnTo>
                    <a:pt x="775716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93103B-ED30-6F5B-D1AC-BAA12AE26559}"/>
                </a:ext>
              </a:extLst>
            </p:cNvPr>
            <p:cNvSpPr/>
            <p:nvPr/>
          </p:nvSpPr>
          <p:spPr>
            <a:xfrm>
              <a:off x="3091433" y="3192017"/>
              <a:ext cx="771525" cy="812800"/>
            </a:xfrm>
            <a:custGeom>
              <a:avLst/>
              <a:gdLst/>
              <a:ahLst/>
              <a:cxnLst/>
              <a:rect l="l" t="t" r="r" b="b"/>
              <a:pathLst>
                <a:path w="771525" h="812800">
                  <a:moveTo>
                    <a:pt x="771144" y="38100"/>
                  </a:moveTo>
                  <a:lnTo>
                    <a:pt x="771144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6396" y="38100"/>
                  </a:lnTo>
                </a:path>
                <a:path w="771525" h="812800">
                  <a:moveTo>
                    <a:pt x="559307" y="0"/>
                  </a:moveTo>
                  <a:lnTo>
                    <a:pt x="637032" y="38607"/>
                  </a:lnTo>
                  <a:lnTo>
                    <a:pt x="559307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4BC09068-AB6A-2A6B-8375-7721EB0A373A}"/>
              </a:ext>
            </a:extLst>
          </p:cNvPr>
          <p:cNvSpPr txBox="1"/>
          <p:nvPr/>
        </p:nvSpPr>
        <p:spPr>
          <a:xfrm>
            <a:off x="5275579" y="3652012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AFDAB6-B603-3659-E4C3-026D8F5A04B6}"/>
              </a:ext>
            </a:extLst>
          </p:cNvPr>
          <p:cNvSpPr txBox="1"/>
          <p:nvPr/>
        </p:nvSpPr>
        <p:spPr>
          <a:xfrm>
            <a:off x="6289209" y="2604787"/>
            <a:ext cx="574040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B6B3D2F-2A44-82A6-93C7-DCA5F134D74D}"/>
              </a:ext>
            </a:extLst>
          </p:cNvPr>
          <p:cNvSpPr txBox="1"/>
          <p:nvPr/>
        </p:nvSpPr>
        <p:spPr>
          <a:xfrm>
            <a:off x="4251114" y="4670889"/>
            <a:ext cx="55964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72ECC9ED-8189-6E15-BF1D-5B4E2057DDED}"/>
              </a:ext>
            </a:extLst>
          </p:cNvPr>
          <p:cNvGrpSpPr/>
          <p:nvPr/>
        </p:nvGrpSpPr>
        <p:grpSpPr>
          <a:xfrm>
            <a:off x="8614155" y="2178811"/>
            <a:ext cx="3120813" cy="3173307"/>
            <a:chOff x="6460616" y="1634108"/>
            <a:chExt cx="2340610" cy="237998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53AE3B8-DB41-DCD0-2D88-FCDEAD23729D}"/>
                </a:ext>
              </a:extLst>
            </p:cNvPr>
            <p:cNvSpPr/>
            <p:nvPr/>
          </p:nvSpPr>
          <p:spPr>
            <a:xfrm>
              <a:off x="8017001" y="1643633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8555" y="36575"/>
                  </a:lnTo>
                </a:path>
                <a:path w="774700" h="812800">
                  <a:moveTo>
                    <a:pt x="560831" y="0"/>
                  </a:moveTo>
                  <a:lnTo>
                    <a:pt x="638555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FE56FE7-CA1E-F0E2-4AF8-515DAAACEB12}"/>
                </a:ext>
              </a:extLst>
            </p:cNvPr>
            <p:cNvSpPr/>
            <p:nvPr/>
          </p:nvSpPr>
          <p:spPr>
            <a:xfrm>
              <a:off x="7242809" y="2419350"/>
              <a:ext cx="774700" cy="810895"/>
            </a:xfrm>
            <a:custGeom>
              <a:avLst/>
              <a:gdLst/>
              <a:ahLst/>
              <a:cxnLst/>
              <a:rect l="l" t="t" r="r" b="b"/>
              <a:pathLst>
                <a:path w="774700" h="810894">
                  <a:moveTo>
                    <a:pt x="0" y="719327"/>
                  </a:moveTo>
                  <a:lnTo>
                    <a:pt x="0" y="36575"/>
                  </a:lnTo>
                  <a:lnTo>
                    <a:pt x="640080" y="36575"/>
                  </a:lnTo>
                </a:path>
                <a:path w="774700" h="810894">
                  <a:moveTo>
                    <a:pt x="559308" y="0"/>
                  </a:moveTo>
                  <a:lnTo>
                    <a:pt x="640080" y="37083"/>
                  </a:lnTo>
                  <a:lnTo>
                    <a:pt x="559308" y="73151"/>
                  </a:lnTo>
                </a:path>
                <a:path w="774700" h="810894">
                  <a:moveTo>
                    <a:pt x="774192" y="36575"/>
                  </a:moveTo>
                  <a:lnTo>
                    <a:pt x="774192" y="810768"/>
                  </a:lnTo>
                  <a:lnTo>
                    <a:pt x="0" y="810768"/>
                  </a:lnTo>
                </a:path>
              </a:pathLst>
            </a:custGeom>
            <a:ln w="1905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797D461-1861-3949-24C7-24901C771EDC}"/>
                </a:ext>
              </a:extLst>
            </p:cNvPr>
            <p:cNvSpPr/>
            <p:nvPr/>
          </p:nvSpPr>
          <p:spPr>
            <a:xfrm>
              <a:off x="6470141" y="3192017"/>
              <a:ext cx="772795" cy="812800"/>
            </a:xfrm>
            <a:custGeom>
              <a:avLst/>
              <a:gdLst/>
              <a:ahLst/>
              <a:cxnLst/>
              <a:rect l="l" t="t" r="r" b="b"/>
              <a:pathLst>
                <a:path w="772795" h="812800">
                  <a:moveTo>
                    <a:pt x="772667" y="38100"/>
                  </a:moveTo>
                  <a:lnTo>
                    <a:pt x="772667" y="812291"/>
                  </a:lnTo>
                  <a:lnTo>
                    <a:pt x="0" y="812291"/>
                  </a:lnTo>
                  <a:lnTo>
                    <a:pt x="0" y="38100"/>
                  </a:lnTo>
                  <a:lnTo>
                    <a:pt x="637666" y="38100"/>
                  </a:lnTo>
                </a:path>
                <a:path w="772795" h="812800">
                  <a:moveTo>
                    <a:pt x="560832" y="0"/>
                  </a:moveTo>
                  <a:lnTo>
                    <a:pt x="638556" y="38607"/>
                  </a:lnTo>
                  <a:lnTo>
                    <a:pt x="560832" y="76200"/>
                  </a:lnTo>
                </a:path>
              </a:pathLst>
            </a:custGeom>
            <a:ln w="19050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AEA0A23C-4B3B-B346-5D17-DFBBD2311489}"/>
              </a:ext>
            </a:extLst>
          </p:cNvPr>
          <p:cNvSpPr txBox="1"/>
          <p:nvPr/>
        </p:nvSpPr>
        <p:spPr>
          <a:xfrm>
            <a:off x="9744794" y="3655331"/>
            <a:ext cx="559645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C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D2B5184-708A-7294-D60C-978C70584744}"/>
              </a:ext>
            </a:extLst>
          </p:cNvPr>
          <p:cNvSpPr txBox="1"/>
          <p:nvPr/>
        </p:nvSpPr>
        <p:spPr>
          <a:xfrm>
            <a:off x="8731674" y="4670889"/>
            <a:ext cx="56472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B</a:t>
            </a:r>
            <a:endParaRPr sz="1467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BC935B0-3FF4-B95E-4520-560640E9A544}"/>
              </a:ext>
            </a:extLst>
          </p:cNvPr>
          <p:cNvSpPr txBox="1"/>
          <p:nvPr/>
        </p:nvSpPr>
        <p:spPr>
          <a:xfrm>
            <a:off x="10795340" y="2604787"/>
            <a:ext cx="57827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spc="-7" dirty="0">
                <a:latin typeface="Calibri"/>
                <a:cs typeface="Calibri"/>
              </a:rPr>
              <a:t>C</a:t>
            </a:r>
            <a:r>
              <a:rPr sz="1467" b="1" spc="7" dirty="0">
                <a:latin typeface="Calibri"/>
                <a:cs typeface="Calibri"/>
              </a:rPr>
              <a:t>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D</a:t>
            </a:r>
            <a:endParaRPr sz="1467">
              <a:latin typeface="Calibri"/>
              <a:cs typeface="Calibri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E20CB98D-87DD-6396-B37F-BA690DD18223}"/>
              </a:ext>
            </a:extLst>
          </p:cNvPr>
          <p:cNvGrpSpPr/>
          <p:nvPr/>
        </p:nvGrpSpPr>
        <p:grpSpPr>
          <a:xfrm>
            <a:off x="8587740" y="1898396"/>
            <a:ext cx="2076873" cy="2341880"/>
            <a:chOff x="6440804" y="1423797"/>
            <a:chExt cx="1557655" cy="175641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7421BCA-F874-7E85-3A03-9018DD99EBE1}"/>
                </a:ext>
              </a:extLst>
            </p:cNvPr>
            <p:cNvSpPr/>
            <p:nvPr/>
          </p:nvSpPr>
          <p:spPr>
            <a:xfrm>
              <a:off x="6753605" y="2006345"/>
              <a:ext cx="1235075" cy="1174115"/>
            </a:xfrm>
            <a:custGeom>
              <a:avLst/>
              <a:gdLst/>
              <a:ahLst/>
              <a:cxnLst/>
              <a:rect l="l" t="t" r="r" b="b"/>
              <a:pathLst>
                <a:path w="1235075" h="1174114">
                  <a:moveTo>
                    <a:pt x="0" y="1173607"/>
                  </a:moveTo>
                  <a:lnTo>
                    <a:pt x="0" y="259080"/>
                  </a:lnTo>
                </a:path>
                <a:path w="1235075" h="1174114">
                  <a:moveTo>
                    <a:pt x="489966" y="450088"/>
                  </a:moveTo>
                  <a:lnTo>
                    <a:pt x="355092" y="259080"/>
                  </a:lnTo>
                </a:path>
                <a:path w="1235075" h="1174114">
                  <a:moveTo>
                    <a:pt x="1234821" y="16891"/>
                  </a:moveTo>
                  <a:lnTo>
                    <a:pt x="489203" y="0"/>
                  </a:lnTo>
                </a:path>
              </a:pathLst>
            </a:custGeom>
            <a:ln w="19050">
              <a:solidFill>
                <a:srgbClr val="497DB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8D40D4B3-5327-97C7-0ECC-B3FC04782F36}"/>
                </a:ext>
              </a:extLst>
            </p:cNvPr>
            <p:cNvSpPr/>
            <p:nvPr/>
          </p:nvSpPr>
          <p:spPr>
            <a:xfrm>
              <a:off x="6450329" y="1433322"/>
              <a:ext cx="774700" cy="812800"/>
            </a:xfrm>
            <a:custGeom>
              <a:avLst/>
              <a:gdLst/>
              <a:ahLst/>
              <a:cxnLst/>
              <a:rect l="l" t="t" r="r" b="b"/>
              <a:pathLst>
                <a:path w="774700" h="812800">
                  <a:moveTo>
                    <a:pt x="0" y="720851"/>
                  </a:moveTo>
                  <a:lnTo>
                    <a:pt x="0" y="36575"/>
                  </a:lnTo>
                  <a:lnTo>
                    <a:pt x="637031" y="36575"/>
                  </a:lnTo>
                </a:path>
                <a:path w="774700" h="812800">
                  <a:moveTo>
                    <a:pt x="560831" y="0"/>
                  </a:moveTo>
                  <a:lnTo>
                    <a:pt x="637031" y="36829"/>
                  </a:lnTo>
                  <a:lnTo>
                    <a:pt x="560831" y="74675"/>
                  </a:lnTo>
                </a:path>
                <a:path w="774700" h="812800">
                  <a:moveTo>
                    <a:pt x="774192" y="36575"/>
                  </a:moveTo>
                  <a:lnTo>
                    <a:pt x="774192" y="812291"/>
                  </a:lnTo>
                  <a:lnTo>
                    <a:pt x="0" y="812291"/>
                  </a:lnTo>
                </a:path>
              </a:pathLst>
            </a:custGeom>
            <a:ln w="1905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4B68E6D-7804-7A98-066A-5C3061B98C4A}"/>
              </a:ext>
            </a:extLst>
          </p:cNvPr>
          <p:cNvSpPr txBox="1"/>
          <p:nvPr/>
        </p:nvSpPr>
        <p:spPr>
          <a:xfrm>
            <a:off x="8710845" y="2303610"/>
            <a:ext cx="573193" cy="24372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1467" b="1" dirty="0">
                <a:latin typeface="Calibri"/>
                <a:cs typeface="Calibri"/>
              </a:rPr>
              <a:t>Cl</a:t>
            </a:r>
            <a:r>
              <a:rPr sz="1467" b="1" spc="-13" dirty="0">
                <a:latin typeface="Calibri"/>
                <a:cs typeface="Calibri"/>
              </a:rPr>
              <a:t>a</a:t>
            </a:r>
            <a:r>
              <a:rPr sz="1467" b="1" dirty="0">
                <a:latin typeface="Calibri"/>
                <a:cs typeface="Calibri"/>
              </a:rPr>
              <a:t>ss</a:t>
            </a:r>
            <a:r>
              <a:rPr sz="1467" b="1" spc="-27" dirty="0">
                <a:latin typeface="Calibri"/>
                <a:cs typeface="Calibri"/>
              </a:rPr>
              <a:t> </a:t>
            </a:r>
            <a:r>
              <a:rPr sz="1467" b="1" dirty="0">
                <a:latin typeface="Calibri"/>
                <a:cs typeface="Calibri"/>
              </a:rPr>
              <a:t>A</a:t>
            </a:r>
            <a:endParaRPr sz="1467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1380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A464-6190-DA01-CEAD-E1A25477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0865-5B51-6E7B-4084-0A383849B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6401-C3E3-0A94-44EE-58FDD6F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599338"/>
            <a:ext cx="10803118" cy="56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567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E415-F2D0-CC74-EDB9-DC045BD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BBD4-ED5E-B05A-E684-6336F32DF36E}"/>
              </a:ext>
            </a:extLst>
          </p:cNvPr>
          <p:cNvSpPr txBox="1"/>
          <p:nvPr/>
        </p:nvSpPr>
        <p:spPr>
          <a:xfrm>
            <a:off x="1484310" y="2417421"/>
            <a:ext cx="100187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JavaScript object has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is a reference to another object.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Prototypes allow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are a key part of object-oriented programming in JavaScript.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Prototype is an object that is associated with every function and object by default in </a:t>
            </a:r>
            <a:r>
              <a:rPr lang="en-US" altLang="en-US" sz="2400" dirty="0" err="1">
                <a:latin typeface="Arial" panose="020B0604020202020204" pitchFamily="34" charset="0"/>
              </a:rPr>
              <a:t>javascript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is used to add new properties and methods to every function or object which is shared across all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13564113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9E0C-E490-8148-40B3-B5838CF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967E-59CF-A9CF-28B4-40CE99962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782F0-1909-1A81-4374-2AE76F8E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72" y="973619"/>
            <a:ext cx="10211551" cy="491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68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5B64-185A-4B06-FD44-DEC450CB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5DE0-1747-EAE7-575C-03A6C929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09233-6BDD-E485-92E3-28691553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763572"/>
            <a:ext cx="10595728" cy="47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8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6585-CFBE-E5D3-BFB9-8AFE79879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61594"/>
            <a:ext cx="10018713" cy="926184"/>
          </a:xfrm>
        </p:spPr>
        <p:txBody>
          <a:bodyPr/>
          <a:lstStyle/>
          <a:p>
            <a:r>
              <a:rPr lang="en-IN" b="1" dirty="0"/>
              <a:t>Converting JSON to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814A-8E97-CE5E-4F6E-4CE518BF5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A common use of JSON is to exchange data to/from a web server.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When receiving data from a web server, the data is always a string.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Parse the data with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(), and the data becomes a JavaScript object.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The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() static method parses a JSON string, constructing the JavaScript value or object described by the string. 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= '{"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result":true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, "count":42}';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const obj = 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JSON.parse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json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obj.count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42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console.log(</a:t>
            </a:r>
            <a:r>
              <a:rPr lang="en-US" sz="2200" b="0" i="0" dirty="0" err="1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obj.result</a:t>
            </a:r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);</a:t>
            </a:r>
          </a:p>
          <a:p>
            <a:pPr algn="just"/>
            <a:r>
              <a:rPr lang="en-US" sz="2200" b="0" i="0" dirty="0">
                <a:effectLst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// Expected output: true</a:t>
            </a:r>
            <a:endParaRPr lang="en-IN" sz="2200" b="0" i="0" dirty="0">
              <a:effectLst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653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Words>3951</Words>
  <Application>Microsoft Office PowerPoint</Application>
  <PresentationFormat>Widescreen</PresentationFormat>
  <Paragraphs>425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Arial Unicode MS</vt:lpstr>
      <vt:lpstr>Calibri</vt:lpstr>
      <vt:lpstr>Corbel</vt:lpstr>
      <vt:lpstr>Roboto Medium</vt:lpstr>
      <vt:lpstr>Parallax</vt:lpstr>
      <vt:lpstr>JavaScript Basics</vt:lpstr>
      <vt:lpstr>What is JavaScript?</vt:lpstr>
      <vt:lpstr>What is JavaScript?</vt:lpstr>
      <vt:lpstr>What is an Interpreter - Based Language ? </vt:lpstr>
      <vt:lpstr>History (ECMA was formerly an acronym for the European Computer Manufacturers Association) </vt:lpstr>
      <vt:lpstr>Features</vt:lpstr>
      <vt:lpstr> Envir0nment Set Up</vt:lpstr>
      <vt:lpstr>Data Types</vt:lpstr>
      <vt:lpstr>JavaScript String</vt:lpstr>
      <vt:lpstr>Examples</vt:lpstr>
      <vt:lpstr>typeof Operator</vt:lpstr>
      <vt:lpstr>Working with Variables</vt:lpstr>
      <vt:lpstr>Variables</vt:lpstr>
      <vt:lpstr>Understand Scope</vt:lpstr>
      <vt:lpstr>Redeclaration for let and var</vt:lpstr>
      <vt:lpstr>Scope for var and let</vt:lpstr>
      <vt:lpstr>Working with constants</vt:lpstr>
      <vt:lpstr>Hoisting in JavaScript </vt:lpstr>
      <vt:lpstr>Hoisting in JavaScript </vt:lpstr>
      <vt:lpstr>Operators</vt:lpstr>
      <vt:lpstr>Loose Equality == Vs Strict Equality===</vt:lpstr>
      <vt:lpstr>Guess Output?</vt:lpstr>
      <vt:lpstr>Type Casting</vt:lpstr>
      <vt:lpstr>String conversion</vt:lpstr>
      <vt:lpstr>Number Conversion</vt:lpstr>
      <vt:lpstr>Truthy vs Falsy </vt:lpstr>
      <vt:lpstr>Boolean Conversion</vt:lpstr>
      <vt:lpstr>Conditional Statements</vt:lpstr>
      <vt:lpstr>Loop</vt:lpstr>
      <vt:lpstr>For..of and for..in</vt:lpstr>
      <vt:lpstr>For-of</vt:lpstr>
      <vt:lpstr>For in</vt:lpstr>
      <vt:lpstr>Functions</vt:lpstr>
      <vt:lpstr>PowerPoint Presentation</vt:lpstr>
      <vt:lpstr>PowerPoint Presentation</vt:lpstr>
      <vt:lpstr>Array</vt:lpstr>
      <vt:lpstr>Array Methods</vt:lpstr>
      <vt:lpstr>Array Methods</vt:lpstr>
      <vt:lpstr>Multi-Dimensional Array</vt:lpstr>
      <vt:lpstr>String</vt:lpstr>
      <vt:lpstr>String Methods</vt:lpstr>
      <vt:lpstr>Object</vt:lpstr>
      <vt:lpstr>Constructor Functions</vt:lpstr>
      <vt:lpstr>PowerPoint Presentation</vt:lpstr>
      <vt:lpstr>This Keyword</vt:lpstr>
      <vt:lpstr>OOP Principles</vt:lpstr>
      <vt:lpstr>Encapsulation</vt:lpstr>
      <vt:lpstr>PowerPoint Presentation</vt:lpstr>
      <vt:lpstr>Polymorphism</vt:lpstr>
      <vt:lpstr>PowerPoint Presentation</vt:lpstr>
      <vt:lpstr>PowerPoint Presentation</vt:lpstr>
      <vt:lpstr>Inheritance</vt:lpstr>
      <vt:lpstr>Inheritance Types</vt:lpstr>
      <vt:lpstr>PowerPoint Presentation</vt:lpstr>
      <vt:lpstr>Prototypes</vt:lpstr>
      <vt:lpstr>PowerPoint Presentation</vt:lpstr>
      <vt:lpstr>PowerPoint Presentation</vt:lpstr>
      <vt:lpstr>Converting JSON to 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istqb.trainer@devlabsalliance.com</dc:creator>
  <cp:lastModifiedBy>ganesh nigade</cp:lastModifiedBy>
  <cp:revision>211</cp:revision>
  <dcterms:created xsi:type="dcterms:W3CDTF">2025-01-22T15:56:26Z</dcterms:created>
  <dcterms:modified xsi:type="dcterms:W3CDTF">2025-07-25T13:59:58Z</dcterms:modified>
</cp:coreProperties>
</file>