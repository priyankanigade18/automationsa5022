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52"/>
  </p:notesMasterIdLst>
  <p:sldIdLst>
    <p:sldId id="256" r:id="rId2"/>
    <p:sldId id="257" r:id="rId3"/>
    <p:sldId id="272" r:id="rId4"/>
    <p:sldId id="273" r:id="rId5"/>
    <p:sldId id="280" r:id="rId6"/>
    <p:sldId id="274" r:id="rId7"/>
    <p:sldId id="281" r:id="rId8"/>
    <p:sldId id="279" r:id="rId9"/>
    <p:sldId id="276" r:id="rId10"/>
    <p:sldId id="275" r:id="rId11"/>
    <p:sldId id="282" r:id="rId12"/>
    <p:sldId id="295" r:id="rId13"/>
    <p:sldId id="296" r:id="rId14"/>
    <p:sldId id="325" r:id="rId15"/>
    <p:sldId id="326" r:id="rId16"/>
    <p:sldId id="297" r:id="rId17"/>
    <p:sldId id="321" r:id="rId18"/>
    <p:sldId id="322" r:id="rId19"/>
    <p:sldId id="283" r:id="rId20"/>
    <p:sldId id="300" r:id="rId21"/>
    <p:sldId id="302" r:id="rId22"/>
    <p:sldId id="299" r:id="rId23"/>
    <p:sldId id="301" r:id="rId24"/>
    <p:sldId id="303" r:id="rId25"/>
    <p:sldId id="304" r:id="rId26"/>
    <p:sldId id="305" r:id="rId27"/>
    <p:sldId id="306" r:id="rId28"/>
    <p:sldId id="307" r:id="rId29"/>
    <p:sldId id="308" r:id="rId30"/>
    <p:sldId id="309" r:id="rId31"/>
    <p:sldId id="310" r:id="rId32"/>
    <p:sldId id="311" r:id="rId33"/>
    <p:sldId id="284" r:id="rId34"/>
    <p:sldId id="317" r:id="rId35"/>
    <p:sldId id="312" r:id="rId36"/>
    <p:sldId id="285" r:id="rId37"/>
    <p:sldId id="314" r:id="rId38"/>
    <p:sldId id="313" r:id="rId39"/>
    <p:sldId id="315" r:id="rId40"/>
    <p:sldId id="318" r:id="rId41"/>
    <p:sldId id="286" r:id="rId42"/>
    <p:sldId id="287" r:id="rId43"/>
    <p:sldId id="343" r:id="rId44"/>
    <p:sldId id="359" r:id="rId45"/>
    <p:sldId id="360" r:id="rId46"/>
    <p:sldId id="361" r:id="rId47"/>
    <p:sldId id="362" r:id="rId48"/>
    <p:sldId id="277" r:id="rId49"/>
    <p:sldId id="288" r:id="rId50"/>
    <p:sldId id="320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B28F34-7DC8-4B4B-A4A0-194233BF9898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51C992-7862-4E90-B0E7-034474E65A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406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2A12D-1544-4EE1-AEF4-9A476FDDE76D}" type="datetime1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349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A5B9A-C2C9-4148-AE08-B62D6E3A3A23}" type="datetime1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22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AB93B-3AE5-4827-8C82-61747655AA11}" type="datetime1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317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79319-5A61-4399-890A-E41C8485E9DF}" type="datetime1">
              <a:rPr lang="en-IN" smtClean="0"/>
              <a:t>16-09-2025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3862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C24A6-1349-43DD-8BA8-E8ADC3C84245}" type="datetime1">
              <a:rPr lang="en-IN" smtClean="0"/>
              <a:t>16-09-2025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061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A3BF5-2DBD-48A6-B63D-2752019020CA}" type="datetime1">
              <a:rPr lang="en-IN" smtClean="0"/>
              <a:t>16-09-2025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594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D5D6-5F38-4981-BD2A-A964C24A9226}" type="datetime1">
              <a:rPr lang="en-IN" smtClean="0"/>
              <a:t>16-09-2025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144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21B67-359C-499C-A054-B4CBFF0B0778}" type="datetime1">
              <a:rPr lang="en-IN" smtClean="0"/>
              <a:t>16-09-2025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877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D5EBE-E2A2-403E-ACE2-3F09835E149A}" type="datetime1">
              <a:rPr lang="en-IN" smtClean="0"/>
              <a:t>16-09-2025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7750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374A-E9B1-422E-9E75-B18D96057626}" type="datetime1">
              <a:rPr lang="en-IN" smtClean="0"/>
              <a:t>16-09-2025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991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D0200-0B69-4F63-B48F-5C918BD6E119}" type="datetime1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172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46442-5090-4338-8E61-CA4C5719D4C5}" type="datetime1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3507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D77CE-8354-41E5-A515-39DA7996D5FA}" type="datetime1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881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73661-09B7-405D-90DD-3CADCB6B86ED}" type="datetime1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6041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AFB95-180C-4CC7-A270-05D59AB2E37D}" type="datetime1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2969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786D7-7737-4350-ACC5-1F5E6E023D60}" type="datetime1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702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D301-1C4C-4E28-A8DC-C92552A00212}" type="datetime1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201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DF7CF14-BA9E-4E44-A15A-FEF621B2892B}" type="datetime1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IN"/>
              <a:t>Priyanka Nigade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61C65C8-195A-43C8-8A51-43FBDB9A1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800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github.com/appium/appium-desktop/release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developer.android.com/studio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mailto:customDriver@1.0.0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appium.io/docs/en/writing-running-appium/android/android-mobile-gestures/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72E73-DEFF-0EA9-28C8-F0729F1FA9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Appium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E50138-C828-DDDE-413E-477BF32B44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-Priyanka Nigade</a:t>
            </a:r>
          </a:p>
        </p:txBody>
      </p:sp>
    </p:spTree>
    <p:extLst>
      <p:ext uri="{BB962C8B-B14F-4D97-AF65-F5344CB8AC3E}">
        <p14:creationId xmlns:p14="http://schemas.microsoft.com/office/powerpoint/2010/main" val="290197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07E36-5079-8D9D-0C2A-E12C95449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90500"/>
            <a:ext cx="10018713" cy="1336641"/>
          </a:xfrm>
        </p:spPr>
        <p:txBody>
          <a:bodyPr>
            <a:normAutofit/>
          </a:bodyPr>
          <a:lstStyle/>
          <a:p>
            <a:r>
              <a:rPr lang="en-IN" b="1" dirty="0">
                <a:latin typeface="Century Schoolbook" panose="02040604050505020304" pitchFamily="18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ADC63-8DF1-D99A-724A-9D7E4611E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7114" y="1527141"/>
            <a:ext cx="10018713" cy="3368511"/>
          </a:xfrm>
        </p:spPr>
        <p:txBody>
          <a:bodyPr>
            <a:normAutofit fontScale="92500" lnSpcReduction="20000"/>
          </a:bodyPr>
          <a:lstStyle/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Introduction to Mobile Application Testing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Introduction to Appium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Appium Architecture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Appium Installation on Windows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Create Driver Session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Finding Locators(Android)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Handling Mobile UI Elements</a:t>
            </a:r>
          </a:p>
        </p:txBody>
      </p:sp>
    </p:spTree>
    <p:extLst>
      <p:ext uri="{BB962C8B-B14F-4D97-AF65-F5344CB8AC3E}">
        <p14:creationId xmlns:p14="http://schemas.microsoft.com/office/powerpoint/2010/main" val="3613317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4"/>
            <a:ext cx="8153400" cy="914397"/>
          </a:xfrm>
        </p:spPr>
        <p:txBody>
          <a:bodyPr anchor="ctr">
            <a:normAutofit/>
          </a:bodyPr>
          <a:lstStyle/>
          <a:p>
            <a:pPr>
              <a:defRPr/>
            </a:pPr>
            <a:r>
              <a:rPr lang="en-US" altLang="en-US" sz="3200" b="1" dirty="0">
                <a:latin typeface="Century Schoolbook" panose="02040604050505020304" pitchFamily="18" charset="0"/>
              </a:rPr>
              <a:t>Mobile application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800520" y="838200"/>
            <a:ext cx="9681327" cy="3007936"/>
          </a:xfrm>
        </p:spPr>
        <p:txBody>
          <a:bodyPr anchor="t">
            <a:noAutofit/>
          </a:bodyPr>
          <a:lstStyle/>
          <a:p>
            <a:pPr algn="just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“Mobile application testing is a process by which software application developed for handheld mobile devices is tested for its functionality, usability, and consistency.</a:t>
            </a:r>
          </a:p>
          <a:p>
            <a:pPr algn="just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Mobile application testing can be automated or manual type of testing.”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564" y="3429000"/>
            <a:ext cx="7716627" cy="324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87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2"/>
            <a:ext cx="8153400" cy="99059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sz="3200" b="1" dirty="0">
                <a:latin typeface="Century Schoolbook" panose="02040604050505020304" pitchFamily="18" charset="0"/>
              </a:rPr>
              <a:t>Types of mobile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130457" y="1066800"/>
            <a:ext cx="9304255" cy="4738254"/>
          </a:xfrm>
        </p:spPr>
        <p:txBody>
          <a:bodyPr anchor="t">
            <a:noAutofit/>
          </a:bodyPr>
          <a:lstStyle/>
          <a:p>
            <a:pPr algn="just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Software or Application testing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applications that work on mobile devices and their functionality is tested. It is called the “Mobile Application Testing”. 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Hardware testing: 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device including the internal processors, internal hardware, screen sizes, resolution, space or memory, camera, radio, Bluetooth, WIFI etc. </a:t>
            </a:r>
          </a:p>
          <a:p>
            <a:pPr marL="365760" lvl="1" indent="-283464" algn="just">
              <a:spcBef>
                <a:spcPts val="600"/>
              </a:spcBef>
              <a:buSzPct val="80000"/>
              <a:buFont typeface="Wingdings 2"/>
              <a:buChar char="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139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F2D97-4CB8-A370-3396-B9C66943F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029878"/>
          </a:xfrm>
        </p:spPr>
        <p:txBody>
          <a:bodyPr/>
          <a:lstStyle/>
          <a:p>
            <a:pPr>
              <a:defRPr/>
            </a:pPr>
            <a:r>
              <a:rPr lang="en-IN" sz="3200" b="1" dirty="0">
                <a:latin typeface="Century Schoolbook" panose="02040604050505020304" pitchFamily="18" charset="0"/>
              </a:rPr>
              <a:t>Types of Mobile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7C3D1-80A0-AA7C-64A9-23456AEBA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3774" y="1866899"/>
            <a:ext cx="8769250" cy="3124201"/>
          </a:xfrm>
        </p:spPr>
        <p:txBody>
          <a:bodyPr/>
          <a:lstStyle/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Native Applications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Mobile Web Applications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Hybrid Applications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5407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4"/>
            <a:ext cx="8077200" cy="1066797"/>
          </a:xfrm>
        </p:spPr>
        <p:txBody>
          <a:bodyPr>
            <a:normAutofit/>
          </a:bodyPr>
          <a:lstStyle/>
          <a:p>
            <a:r>
              <a:rPr lang="en-US" altLang="en-US" sz="3200" b="1" dirty="0">
                <a:latin typeface="Century Schoolbook" panose="02040604050505020304" pitchFamily="18" charset="0"/>
              </a:rPr>
              <a:t>Native Mobile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32875" y="1734533"/>
            <a:ext cx="7532016" cy="3930977"/>
          </a:xfrm>
        </p:spPr>
        <p:txBody>
          <a:bodyPr anchor="t">
            <a:no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Native apps are those applications that are designed for a specific mobile Operating Systems like iOS or Android.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They are built using different programming languages like Swift or Objective-C for developing iOS app and Java (Android Studio) 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Native Apps allows the access to the in-built device capabilities.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592650-FC4D-2809-F755-957A9606F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3288" y="1066801"/>
            <a:ext cx="2530059" cy="548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119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9125" y="-23567"/>
            <a:ext cx="8077200" cy="1066797"/>
          </a:xfrm>
        </p:spPr>
        <p:txBody>
          <a:bodyPr>
            <a:normAutofit/>
          </a:bodyPr>
          <a:lstStyle/>
          <a:p>
            <a:r>
              <a:rPr lang="en-US" altLang="en-US" sz="3200" b="1" dirty="0">
                <a:latin typeface="Century Schoolbook" panose="02040604050505020304" pitchFamily="18" charset="0"/>
              </a:rPr>
              <a:t> Mobile Web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83703" y="1385739"/>
            <a:ext cx="7145517" cy="2884603"/>
          </a:xfrm>
        </p:spPr>
        <p:txBody>
          <a:bodyPr anchor="t">
            <a:no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Web Application is a self-sustaining software that completely runs on the web browser.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web application does not need to be downloaded and installed on the local machine of the end user.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web applications can span over multiple pages or be restricted to a single page.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09C4FD-2951-17A0-7442-F6B3EA210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9414" y="1043230"/>
            <a:ext cx="2720576" cy="504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942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4"/>
            <a:ext cx="8077200" cy="1066797"/>
          </a:xfrm>
        </p:spPr>
        <p:txBody>
          <a:bodyPr>
            <a:normAutofit/>
          </a:bodyPr>
          <a:lstStyle/>
          <a:p>
            <a:r>
              <a:rPr lang="en-US" altLang="en-US" sz="3200" b="1" dirty="0">
                <a:latin typeface="Century Schoolbook" panose="02040604050505020304" pitchFamily="18" charset="0"/>
              </a:rPr>
              <a:t>Hybrid Mobile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55423" y="1435229"/>
            <a:ext cx="7532016" cy="3987539"/>
          </a:xfrm>
        </p:spPr>
        <p:txBody>
          <a:bodyPr anchor="t">
            <a:no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hybrid app allows you to easily build on multiple platforms like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ios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android, windows so learning low-level languages like HTML, CSS,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one can create powerful hybrid apps.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Hybrid apps run in a full-screen browser, called a web view to run a web application inside of a native app, that is invisible to the user. 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292109-4B3B-81FE-E021-01663C337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2443" y="728220"/>
            <a:ext cx="2347163" cy="540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977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5615" y="0"/>
            <a:ext cx="8153400" cy="1066799"/>
          </a:xfrm>
        </p:spPr>
        <p:txBody>
          <a:bodyPr>
            <a:normAutofit/>
          </a:bodyPr>
          <a:lstStyle/>
          <a:p>
            <a:r>
              <a:rPr lang="en-US" altLang="en-US" sz="3200" b="1" dirty="0">
                <a:latin typeface="Century Schoolbook" panose="02040604050505020304" pitchFamily="18" charset="0"/>
              </a:rPr>
              <a:t>Test conduct on Mobile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90801" y="990600"/>
            <a:ext cx="7352759" cy="5091548"/>
          </a:xfrm>
        </p:spPr>
        <p:txBody>
          <a:bodyPr anchor="t">
            <a:normAutofit/>
          </a:bodyPr>
          <a:lstStyle/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Functional testing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Performance testing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Security testing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Usability testing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User Interface testing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Compatibility testing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Configuration testing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Installation testing</a:t>
            </a:r>
          </a:p>
          <a:p>
            <a:endParaRPr lang="en-US" sz="2600" dirty="0">
              <a:solidFill>
                <a:schemeClr val="accent1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647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0300" y="31172"/>
            <a:ext cx="8153400" cy="1142999"/>
          </a:xfrm>
        </p:spPr>
        <p:txBody>
          <a:bodyPr>
            <a:normAutofit/>
          </a:bodyPr>
          <a:lstStyle/>
          <a:p>
            <a:r>
              <a:rPr lang="en-US" altLang="en-US" sz="3200" b="1" dirty="0">
                <a:latin typeface="Century Schoolbook" panose="02040604050505020304" pitchFamily="18" charset="0"/>
              </a:rPr>
              <a:t>Challenges In Mobile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4600" y="1066801"/>
            <a:ext cx="7924800" cy="5188527"/>
          </a:xfrm>
        </p:spPr>
        <p:txBody>
          <a:bodyPr anchor="t">
            <a:noAutofit/>
          </a:bodyPr>
          <a:lstStyle/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Different range of mobile devices 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Wide varieties of mobile devices.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Different mobile operating systems 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Different versions of operation system 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Different mobile network operators.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 Frequent updates </a:t>
            </a:r>
          </a:p>
        </p:txBody>
      </p:sp>
    </p:spTree>
    <p:extLst>
      <p:ext uri="{BB962C8B-B14F-4D97-AF65-F5344CB8AC3E}">
        <p14:creationId xmlns:p14="http://schemas.microsoft.com/office/powerpoint/2010/main" val="2203249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EB715-05CB-38EB-2AAA-4AA0764DE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579" y="176752"/>
            <a:ext cx="10018713" cy="1058159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What is Appium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7009B-3199-0556-8558-2D3F24171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102938"/>
            <a:ext cx="10018713" cy="279976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Appium is an open-source tool for automating native, mobile web, and hybrid applications on iOS mobile, Android mobile, and Windows desktop platforms.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B5A2145-B448-8635-8477-1FD61E28BD3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286" y="3205901"/>
            <a:ext cx="6361994" cy="3042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970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02DE3-C3AA-F900-93B1-BFA95D389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23888"/>
            <a:ext cx="10018713" cy="11430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What is Appium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469AA-5C0E-61A8-C4C8-61CD3401A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5561" y="1135091"/>
            <a:ext cx="9494914" cy="2216086"/>
          </a:xfrm>
        </p:spPr>
        <p:txBody>
          <a:bodyPr/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Appium is a cross platform (Android ,iOS ,Windows)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Appium Support multiple programming languages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0FFF03-4F48-7C7A-C555-8A877C8B6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561" y="3157084"/>
            <a:ext cx="4590654" cy="28507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A892FC-C949-24D4-2285-AA47BE4BB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014" y="3157084"/>
            <a:ext cx="4934895" cy="2850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473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E8C75-6901-EC70-00EC-46F58F985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71022"/>
            <a:ext cx="10018713" cy="982744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Why Appium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77991-C146-B195-6383-BBB997823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376313"/>
            <a:ext cx="10018713" cy="3761295"/>
          </a:xfrm>
        </p:spPr>
        <p:txBody>
          <a:bodyPr/>
          <a:lstStyle/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Appium supports physical device as well as Android Emulator and iOS Simulator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No pre-compilation of your app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Cross platform and any WebDriver compatible language supported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Support for build In applications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1666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200B23-8188-825B-5267-4FF65D08C6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9491" y="923827"/>
            <a:ext cx="9468344" cy="5363851"/>
          </a:xfrm>
        </p:spPr>
      </p:pic>
    </p:spTree>
    <p:extLst>
      <p:ext uri="{BB962C8B-B14F-4D97-AF65-F5344CB8AC3E}">
        <p14:creationId xmlns:p14="http://schemas.microsoft.com/office/powerpoint/2010/main" val="40499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8D356-FD58-4971-B1A9-8F03189BB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897903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E24BA-1688-4DCD-511D-716DACCED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5968" y="1583703"/>
            <a:ext cx="10018713" cy="3124201"/>
          </a:xfrm>
        </p:spPr>
        <p:txBody>
          <a:bodyPr/>
          <a:lstStyle/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IOS automation with local Appium server requires mac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Maintaining local Appium server labs need large resource</a:t>
            </a:r>
          </a:p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Documentation is limited and some times its too technical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6261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8578-56EC-543B-1AC0-09A3B4085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9725" y="190500"/>
            <a:ext cx="10018713" cy="118581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Appium Architecture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747120-53E3-E41E-6C09-2989D9089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A5FE54-8015-F576-9D66-728B5890C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15" y="1509957"/>
            <a:ext cx="10096023" cy="456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4112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F0A11-DBCE-DC19-66DE-83812DB16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74629"/>
            <a:ext cx="10018713" cy="992171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Appium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F6D7E-BE1F-CE19-1F48-CC4498E34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9152" y="1224698"/>
            <a:ext cx="10018713" cy="3494786"/>
          </a:xfrm>
        </p:spPr>
        <p:txBody>
          <a:bodyPr/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Client/Server Architecture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Appium is at its heart a webserver that exposes a REST API. </a:t>
            </a: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It receives connections from a client, listens for commands, executes those commands on a mobile device, and responds with an HTTP response representing the result of the command execution.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9E92BA-8DF8-DCF2-4E11-52EB154AC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020" y="3891997"/>
            <a:ext cx="5715495" cy="23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736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E4BF2-5134-F775-31BC-0B450EDDE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5471"/>
            <a:ext cx="10018713" cy="6459794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Clients initiate a session with a server in ways specific to each library, but they all end up sending a POST /session request to the server, with a JSON object called the 'desired capabilities' object.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 At this point the server will start up the automation session and respond with a session ID which is used for sending further commands.</a:t>
            </a:r>
          </a:p>
          <a:p>
            <a:pPr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Desired Capabilities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Desired capabilities are a set of keys and values (i.e., a map or hash) sent to the Appium server to tell the server what kind of automation session we're interested in starting up. </a:t>
            </a:r>
          </a:p>
          <a:p>
            <a:pPr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Appium Server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Appium is a server written in Node.js</a:t>
            </a:r>
          </a:p>
          <a:p>
            <a:pPr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Appium Clients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There are client libraries (in Java, Ruby, Python, PHP, JavaScript, and C#) which support Appium's extensions to the WebDriver protocol.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3326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BDACF-BAD7-68DF-F9C8-698409AE8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52168"/>
            <a:ext cx="10018713" cy="1001598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Appium Installation On Windows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3CD53-D0BE-22E5-7E20-6AE58DEE5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3674" y="1253766"/>
            <a:ext cx="10018713" cy="3547622"/>
          </a:xfrm>
        </p:spPr>
        <p:txBody>
          <a:bodyPr/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Step 1:Install Appium Server through CLI interface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Step 2: Install Appium server Desktop</a:t>
            </a:r>
            <a:r>
              <a:rPr lang="en-IN">
                <a:latin typeface="Times New Roman" pitchFamily="18" charset="0"/>
                <a:cs typeface="Times New Roman" pitchFamily="18" charset="0"/>
              </a:rPr>
              <a:t>(Optional)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Step 3: Install UiAutomator2 Driver using Appium CLI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Step4: Install Appium Inspector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Step5 : Install Android Studio &amp; configure Java /Android Variable</a:t>
            </a:r>
          </a:p>
        </p:txBody>
      </p:sp>
    </p:spTree>
    <p:extLst>
      <p:ext uri="{BB962C8B-B14F-4D97-AF65-F5344CB8AC3E}">
        <p14:creationId xmlns:p14="http://schemas.microsoft.com/office/powerpoint/2010/main" val="3699539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6B1B7-3C8A-06CF-0ABC-D9BA4E886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6029" y="120193"/>
            <a:ext cx="10018713" cy="954464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Step 1 :Install Appium Through CLI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7AE8C-B30F-6EBF-0A37-40BD44BCF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9975" y="1074657"/>
            <a:ext cx="9624767" cy="5307289"/>
          </a:xfrm>
        </p:spPr>
        <p:txBody>
          <a:bodyPr>
            <a:normAutofit/>
          </a:bodyPr>
          <a:lstStyle/>
          <a:p>
            <a:pPr algn="just"/>
            <a:r>
              <a:rPr lang="en-US" sz="2200" dirty="0"/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Commands to check if node and NPM (Node Package Manager) are installed: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node -v</a:t>
            </a:r>
          </a:p>
          <a:p>
            <a:pPr algn="just"/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npm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-v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Install node.js (NPM is included) from link - https://nodejs.org/en/download/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Important note: Use the LTS and not current version.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Command to install Appium using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npm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npm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install -g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appium@next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Note: @next will not be required once Appium 2.0 stable release is out to market.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Command to install specific version: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npm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install -g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@&lt;verion_number&gt;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Command to start Appium: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appium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Command to get installation location: where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appium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Command to uninstall Appium: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npm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uninstall -g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appium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6516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2DD48-929D-4E3A-D9F9-E7DADAA3C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65928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Appium Through CLI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B45BB-EA1D-B6FB-9179-829AEE7EC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D3D793-F01E-BA02-030E-B8EBF52F4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808" y="1861639"/>
            <a:ext cx="9387345" cy="447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7636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6B1B7-3C8A-06CF-0ABC-D9BA4E886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307" y="261594"/>
            <a:ext cx="10018713" cy="954464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Step 2:Install Appium Desktop</a:t>
            </a:r>
            <a:r>
              <a:rPr lang="en-IN" sz="3200" b="1">
                <a:latin typeface="Century Schoolbook" panose="02040604050505020304" pitchFamily="18" charset="0"/>
              </a:rPr>
              <a:t>(optional)</a:t>
            </a:r>
            <a:endParaRPr lang="en-IN" sz="3200" b="1" dirty="0">
              <a:latin typeface="Century Schoolbook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7AE8C-B30F-6EBF-0A37-40BD44BCF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7847" y="1404595"/>
            <a:ext cx="9240591" cy="1178349"/>
          </a:xfrm>
        </p:spPr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https://github.com/appium/appium-desktop/releases</a:t>
            </a: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AA9AF1-3191-9D8E-9A08-16D9B2304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285" y="2281495"/>
            <a:ext cx="5420354" cy="40815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5F84B4-90A0-09FF-C3BC-C0CD63C3B5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786" y="2281495"/>
            <a:ext cx="4590853" cy="4081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5808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6B1B7-3C8A-06CF-0ABC-D9BA4E886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9726" y="271022"/>
            <a:ext cx="10018713" cy="954464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Step 3 :Install UiAutomator2 Through CLI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7AE8C-B30F-6EBF-0A37-40BD44BCF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5677" y="1545996"/>
            <a:ext cx="9523396" cy="4305693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UiAutomator2 is UI Testing framework introduced by Google to facilitate automation on Android device or Emulator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Appium leverages this UiAutomator2 with its own wrapper and came up with UiAutomator2 Driver to automate the Android application.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Setup: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Get help: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driver --help (or -h)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Get list of officially supported drivers: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driver list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Install driver: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driver install uiautomator2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Install driver with specific version: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driver install uiautomator2@&lt;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version_number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&gt;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0019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6B1B7-3C8A-06CF-0ABC-D9BA4E886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9726" y="114742"/>
            <a:ext cx="10018713" cy="954464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Step 4 :Install Appium Inspector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7AE8C-B30F-6EBF-0A37-40BD44BCF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7398" y="980388"/>
            <a:ext cx="9891041" cy="2215299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GUI inspector for mobile apps and more, powered by a (separately installed) Appium server.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Appium Inspector is basically just an Appium client (like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WebdriverIO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Appium's Java client, Appium's Python client, etc...) with a user interface.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There's an interface for specifying which Appium server to use, which capabilities to set, and then interacting with elements and other Appium commands once you've started a session.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203661-00D8-A644-9791-924FE7ADF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750" y="2927758"/>
            <a:ext cx="7374852" cy="3777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9486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6B1B7-3C8A-06CF-0ABC-D9BA4E886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9726" y="271022"/>
            <a:ext cx="10018713" cy="954464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Step 5 :Install Android 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7AE8C-B30F-6EBF-0A37-40BD44BCF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5043" y="1432873"/>
            <a:ext cx="9523396" cy="1376315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Download Android studio and do setup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hlinkClick r:id="rId2"/>
              </a:rPr>
              <a:t>https://developer.android.com/studio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06B7D2-DA49-64EE-EC9D-2C01D53F1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238" y="2649473"/>
            <a:ext cx="4663844" cy="37112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A445E9-0DCC-1521-7CF1-DE73213ECF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809" y="2649473"/>
            <a:ext cx="4919630" cy="371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4988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C4844-1D7B-4B9B-E64D-DD429AFA5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39046"/>
            <a:ext cx="10018713" cy="1077012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Setup Java &amp; Android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CAD84-DB42-7FCD-E702-ABAC18EF8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4565" y="1216057"/>
            <a:ext cx="10018713" cy="5731497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Create JAVA_HOME system environment variable and set it to JDK path (without bin folder). 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Edit PATH system environment variable and add %JAVA_HOME%\bin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Note: Usually JDK path is "C:\Program Files\Java\&lt;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your_jdk_version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&gt;“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system environment variable and set it to SDK path. Create ANDROID_HOME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Edit PATH system environment variable and add below,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%ANDROID_HOME%\platform-tools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%ANDROID_HOME%\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cmdline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-tools</a:t>
            </a:r>
          </a:p>
          <a:p>
            <a:pPr algn="just"/>
            <a:endParaRPr lang="en-US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5489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1102-60C7-6F1A-6734-242F2C16D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223879"/>
            <a:ext cx="10018713" cy="1086439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Step 6:Verify Installation Using Appium-doctor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2FE04-2DBA-EA38-65C2-8DB9A5162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2273" y="1310318"/>
            <a:ext cx="10018713" cy="1791092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Command to install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-doctor: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npm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install -g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-doctor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Command to get help: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-doctor --help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Command to check Android setup: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-doctor --android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4C429C-C413-2A4E-ADCC-DD2A70BD8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635" y="3271101"/>
            <a:ext cx="8764063" cy="336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153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4B117-232B-3C87-60CE-5A57EB78D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9448" y="280447"/>
            <a:ext cx="10018713" cy="1039305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Appium Driver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D7A0C-A6EC-996E-1D3C-CF8587166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027522"/>
            <a:ext cx="10468878" cy="5448691"/>
          </a:xfrm>
        </p:spPr>
        <p:txBody>
          <a:bodyPr>
            <a:noAutofit/>
          </a:bodyPr>
          <a:lstStyle/>
          <a:p>
            <a:endParaRPr lang="en-IN" sz="2000" dirty="0"/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List driver: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list</a:t>
            </a:r>
          </a:p>
          <a:p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list --installed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list –updates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Install driver: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install &lt;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official_driver_name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install &lt;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official_driver_name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&gt;@&lt;specific_version_number&gt;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7330172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4B117-232B-3C87-60CE-5A57EB78D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867" y="259237"/>
            <a:ext cx="10018713" cy="841342"/>
          </a:xfrm>
        </p:spPr>
        <p:txBody>
          <a:bodyPr/>
          <a:lstStyle/>
          <a:p>
            <a:r>
              <a:rPr lang="en-IN" sz="4000" b="1" dirty="0">
                <a:latin typeface="Century Schoolbook" panose="02040604050505020304" pitchFamily="18" charset="0"/>
              </a:rPr>
              <a:t>Appium Driver Management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D7A0C-A6EC-996E-1D3C-CF8587166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9448" y="1357460"/>
            <a:ext cx="10468878" cy="4543720"/>
          </a:xfrm>
        </p:spPr>
        <p:txBody>
          <a:bodyPr>
            <a:noAutofit/>
          </a:bodyPr>
          <a:lstStyle/>
          <a:p>
            <a:pPr algn="just"/>
            <a:endParaRPr lang="en-IN" dirty="0"/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install --source &lt;source&gt; --package &lt;name&gt;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source: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npm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(default),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git, local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package: </a:t>
            </a:r>
            <a:r>
              <a:rPr lang="en-IN" dirty="0">
                <a:latin typeface="Times New Roman" pitchFamily="18" charset="0"/>
                <a:cs typeface="Times New Roman" pitchFamily="18" charset="0"/>
                <a:hlinkClick r:id="rId2"/>
              </a:rPr>
              <a:t>customDriver@1.0.0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Examples: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-&gt;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install --source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npm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appium-uiautomator2-driver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-&gt;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install --source git https://github.com/appium/appium-uiautomator2-driver.git --package appium-uiautomator2-driver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-&gt;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install --source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/appium-uiautomator2-driver --package appium-uiautomator2-driver</a:t>
            </a:r>
          </a:p>
          <a:p>
            <a:pPr algn="just"/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7BD8C87-3A31-5C7F-CA87-2E7D41BFF3E6}"/>
              </a:ext>
            </a:extLst>
          </p:cNvPr>
          <p:cNvSpPr txBox="1">
            <a:spLocks/>
          </p:cNvSpPr>
          <p:nvPr/>
        </p:nvSpPr>
        <p:spPr>
          <a:xfrm>
            <a:off x="1509448" y="280448"/>
            <a:ext cx="10018713" cy="84134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sz="32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9938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4B117-232B-3C87-60CE-5A57EB78D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8302" y="304016"/>
            <a:ext cx="10018713" cy="1199560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Appium Driver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D7A0C-A6EC-996E-1D3C-CF8587166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771" y="1081725"/>
            <a:ext cx="9233967" cy="4272699"/>
          </a:xfrm>
        </p:spPr>
        <p:txBody>
          <a:bodyPr>
            <a:noAutofit/>
          </a:bodyPr>
          <a:lstStyle/>
          <a:p>
            <a:pPr algn="just"/>
            <a:endParaRPr lang="en-IN" dirty="0"/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 Uninstall driver: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-&gt;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uninstall &lt;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official_driver_name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Update driver: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-&gt;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update uiautomator2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-&gt;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update --unsafe</a:t>
            </a:r>
          </a:p>
          <a:p>
            <a:pPr algn="just"/>
            <a:r>
              <a:rPr lang="en-IN" dirty="0">
                <a:latin typeface="Times New Roman" pitchFamily="18" charset="0"/>
                <a:cs typeface="Times New Roman" pitchFamily="18" charset="0"/>
              </a:rPr>
              <a:t>-&gt;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appium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driver update installed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35878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4B117-232B-3C87-60CE-5A57EB78D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7729" y="82485"/>
            <a:ext cx="10018713" cy="841342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Android Emulator Setup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2C873D-29C4-93CA-56CD-61C9DF9644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277" y="1691671"/>
            <a:ext cx="3506715" cy="331160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D50DCC-5789-6CFD-57F9-1836103FA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218" y="1691671"/>
            <a:ext cx="4810017" cy="33116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09A938-A62A-FE76-7A1C-A57BB7353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7462" y="1021171"/>
            <a:ext cx="3101960" cy="524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4452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C614C-9206-CD8C-7133-1E6E695B50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Create Driver Session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6802DC-8815-A5E2-9B0F-D7F89F8049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6824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5A0F5-C091-54EE-D2A7-A23A7297F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79109"/>
            <a:ext cx="10018713" cy="933254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Desired Capabilities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F236E-6776-1073-E003-C489C7A8E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1984" y="1263192"/>
            <a:ext cx="9611039" cy="5175316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Desired capabilities are a set of keys and values (i.e., a map or hash) sent to the Appium server to tell the server what kind of automation session we're interested in starting up.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There are also various capabilities which can modify the behavior of the server during automation. 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 Keys and values encoded in a JSON object, sent by Appium clients (e.g. Java Client) to the server when a new driver session is requested.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- Scripted through code or through the Appium Inspector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1. How you want your test to work    2. Device to connect   3. App to work with</a:t>
            </a:r>
          </a:p>
          <a:p>
            <a:pPr algn="just"/>
            <a:endParaRPr lang="en-US" sz="1800" b="0" i="0" dirty="0">
              <a:solidFill>
                <a:srgbClr val="343838"/>
              </a:solidFill>
              <a:effectLst/>
              <a:latin typeface="Open Sans" panose="020B0606030504020204" pitchFamily="34" charset="0"/>
            </a:endParaRPr>
          </a:p>
          <a:p>
            <a:pPr algn="just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8400539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5A0F5-C091-54EE-D2A7-A23A7297F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715257"/>
            <a:ext cx="10018713" cy="1075835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Desired Capabilities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F236E-6776-1073-E003-C489C7A8E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1984" y="1791092"/>
            <a:ext cx="9611039" cy="3130877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UiAutomator2 (Android) capabilities: 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https://github.com/appium/appium-uiautomator2-driver?#capabilities</a:t>
            </a:r>
          </a:p>
          <a:p>
            <a:pPr algn="just"/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XCUITest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(iOS) capabilities: 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https://github.com/appium/appium-xcuitest-driver#capabilities</a:t>
            </a:r>
          </a:p>
          <a:p>
            <a:pPr algn="just"/>
            <a:endParaRPr lang="en-US" sz="2000" b="0" i="0" dirty="0">
              <a:solidFill>
                <a:srgbClr val="343838"/>
              </a:solidFill>
              <a:effectLst/>
              <a:latin typeface="Open Sans" panose="020B0606030504020204" pitchFamily="34" charset="0"/>
            </a:endParaRPr>
          </a:p>
          <a:p>
            <a:pPr algn="just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170949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03D46-75DA-C984-8705-83043881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38579"/>
            <a:ext cx="10018713" cy="728221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Android session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4CF8EB-9386-F23B-1C9B-293EAB7351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1068" y="1300112"/>
            <a:ext cx="3943930" cy="458221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A06884-C9F1-BEA1-88D3-EB9AD4756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546" y="1300111"/>
            <a:ext cx="6476215" cy="4582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5082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8BFA4-208E-E4DF-396E-FAE5ACCD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946" y="346437"/>
            <a:ext cx="10018713" cy="1095866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Create Driver Session for IOS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5C9180-251B-F97A-27A6-96B5CB048E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6995" y="1442303"/>
            <a:ext cx="9993348" cy="4348897"/>
          </a:xfrm>
        </p:spPr>
      </p:pic>
    </p:spTree>
    <p:extLst>
      <p:ext uri="{BB962C8B-B14F-4D97-AF65-F5344CB8AC3E}">
        <p14:creationId xmlns:p14="http://schemas.microsoft.com/office/powerpoint/2010/main" val="15174827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B1636-79BC-2988-D709-948E513C0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55863"/>
            <a:ext cx="10018713" cy="1331536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Create Android session Using Options Class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865CA6-027E-810C-FAB9-F83FC94FC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B13A40-2468-B260-F7E5-E441E53D9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310" y="1872434"/>
            <a:ext cx="10385354" cy="3560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4491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B1636-79BC-2988-D709-948E513C0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55863"/>
            <a:ext cx="10018713" cy="1331536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Create iOS session Using Options Class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CE0C2A-AE1E-3758-311D-BAD81C6450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4311" y="1593130"/>
            <a:ext cx="10018712" cy="4440024"/>
          </a:xfrm>
        </p:spPr>
      </p:pic>
    </p:spTree>
    <p:extLst>
      <p:ext uri="{BB962C8B-B14F-4D97-AF65-F5344CB8AC3E}">
        <p14:creationId xmlns:p14="http://schemas.microsoft.com/office/powerpoint/2010/main" val="6944462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13C15-16DC-8232-4CED-225B57E33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887" y="120191"/>
            <a:ext cx="10018713" cy="963891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How to get App Package &amp; App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CE977-995C-E1D6-2375-F2E647261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373" y="1084082"/>
            <a:ext cx="9730783" cy="3261673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Launch app on the device and bring activity in focus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Launch terminal/CMD prompt and execute command (for older Android versions): </a:t>
            </a:r>
            <a:r>
              <a:rPr lang="en-IN" sz="1800" dirty="0" err="1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IN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shell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dumpsys</a:t>
            </a:r>
            <a:r>
              <a:rPr lang="en-IN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window | grep -E </a:t>
            </a:r>
            <a:r>
              <a:rPr lang="en-IN" sz="1800" dirty="0" err="1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mCurrentFocus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sz="180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Command for Android 10 and above: </a:t>
            </a:r>
            <a:r>
              <a:rPr lang="en-IN" sz="1800" dirty="0" err="1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IN" sz="1800" dirty="0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shell 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sz="1800" dirty="0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1800" dirty="0" err="1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dumpsys</a:t>
            </a:r>
            <a:r>
              <a:rPr lang="en-IN" sz="1800" dirty="0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activity activities | grep </a:t>
            </a:r>
            <a:r>
              <a:rPr lang="en-IN" sz="1800" dirty="0" err="1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mResumedActivity</a:t>
            </a:r>
            <a:r>
              <a:rPr lang="en-IN" sz="1800" dirty="0">
                <a:solidFill>
                  <a:srgbClr val="000000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sz="1800" kern="5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=&gt; On windows, you might have to launch the </a:t>
            </a:r>
            <a:r>
              <a:rPr lang="en-IN" sz="1800" kern="50" dirty="0" err="1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IN" sz="1800" kern="5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shell first, using command “</a:t>
            </a:r>
            <a:r>
              <a:rPr lang="en-IN" sz="1800" kern="50" dirty="0" err="1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IN" sz="1800" kern="50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shell”, Then execute the remaining command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D3AB45-BED0-F179-E717-8A4B38A94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506" y="4313804"/>
            <a:ext cx="8626588" cy="221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3428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82C43-239D-DBAF-556B-E5002E05C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3165" y="358219"/>
            <a:ext cx="10018713" cy="982744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Create a Session Through Appium Inspector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A23D4E-5DC4-8DDA-30A9-A87CFC994F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2496" y="1340963"/>
            <a:ext cx="9012025" cy="5010346"/>
          </a:xfrm>
        </p:spPr>
      </p:pic>
    </p:spTree>
    <p:extLst>
      <p:ext uri="{BB962C8B-B14F-4D97-AF65-F5344CB8AC3E}">
        <p14:creationId xmlns:p14="http://schemas.microsoft.com/office/powerpoint/2010/main" val="36623926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EE604-7F13-46A3-4B5F-AE4D1EEBB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3" y="384143"/>
            <a:ext cx="10018713" cy="1058159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entury Schoolbook" panose="02040604050505020304" pitchFamily="18" charset="0"/>
              </a:rPr>
              <a:t>Locator Strategy for Android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CA71D9-E9D3-E51B-8526-8F80D8D79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167" y="1653830"/>
            <a:ext cx="10018713" cy="296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4006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4D20B-D0CF-C2AC-A437-EB4212672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6701" y="101338"/>
            <a:ext cx="9146322" cy="1752599"/>
          </a:xfrm>
        </p:spPr>
        <p:txBody>
          <a:bodyPr/>
          <a:lstStyle/>
          <a:p>
            <a:pPr algn="l"/>
            <a:r>
              <a:rPr lang="en-IN" sz="3200" b="1" dirty="0">
                <a:latin typeface="Century Schoolbook" panose="02040604050505020304" pitchFamily="18" charset="0"/>
              </a:rPr>
              <a:t>Mobile Gestures With UiAutomator2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C58EE-D221-4F4D-E0F7-5D1A1DE7C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8227" y="1357461"/>
            <a:ext cx="9664795" cy="4343400"/>
          </a:xfrm>
        </p:spPr>
        <p:txBody>
          <a:bodyPr>
            <a:normAutofit/>
          </a:bodyPr>
          <a:lstStyle/>
          <a:p>
            <a:r>
              <a:rPr lang="en-IN" dirty="0">
                <a:hlinkClick r:id="rId2"/>
              </a:rPr>
              <a:t>https://appium.io/docs/en/writing-running-appium/android/android-mobile-gestures/</a:t>
            </a:r>
            <a:endParaRPr lang="en-IN" dirty="0"/>
          </a:p>
          <a:p>
            <a:pPr marL="0" indent="0">
              <a:buNone/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1.click</a:t>
            </a:r>
          </a:p>
          <a:p>
            <a:pPr marL="0" indent="0">
              <a:buNone/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2.Long click</a:t>
            </a:r>
          </a:p>
          <a:p>
            <a:pPr marL="0" indent="0">
              <a:buNone/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3.Drag and Drop</a:t>
            </a:r>
          </a:p>
          <a:p>
            <a:pPr marL="0" indent="0">
              <a:buNone/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4.Scroll</a:t>
            </a:r>
          </a:p>
          <a:p>
            <a:pPr marL="0" indent="0">
              <a:buNone/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5.Swipe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0773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7B495-57EA-11D9-E593-4DAE20C09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447" y="80683"/>
            <a:ext cx="12192000" cy="973668"/>
          </a:xfrm>
        </p:spPr>
        <p:txBody>
          <a:bodyPr>
            <a:normAutofit/>
          </a:bodyPr>
          <a:lstStyle/>
          <a:p>
            <a:pPr lvl="0">
              <a:lnSpc>
                <a:spcPct val="107000"/>
              </a:lnSpc>
            </a:pPr>
            <a:r>
              <a:rPr lang="en-IN" sz="3600" b="1" dirty="0">
                <a:latin typeface="Century Schoolbook" panose="02040604050505020304" pitchFamily="18" charset="0"/>
              </a:rPr>
              <a:t>Automate Android Key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B4460-0360-234B-5B47-7CA3D2A8A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2076" y="876693"/>
            <a:ext cx="9756742" cy="5406120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To automate Android key events using Appium, you can utilize the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AndroidKey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enum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 provided by the Appium Java client library. 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This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enum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 contains a list of Android key codes that can be sent as key events to the device. 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latin typeface="Courier New" panose="02070309020205020404" pitchFamily="49" charset="0"/>
              </a:rPr>
              <a:t>((</a:t>
            </a:r>
            <a:r>
              <a:rPr lang="en-US" sz="1800" dirty="0" err="1">
                <a:latin typeface="Courier New" panose="02070309020205020404" pitchFamily="49" charset="0"/>
              </a:rPr>
              <a:t>AndroidDriver</a:t>
            </a:r>
            <a:r>
              <a:rPr lang="en-US" sz="1800" dirty="0">
                <a:latin typeface="Courier New" panose="02070309020205020404" pitchFamily="49" charset="0"/>
              </a:rPr>
              <a:t>)driver).</a:t>
            </a:r>
            <a:r>
              <a:rPr lang="en-US" sz="1800" dirty="0" err="1">
                <a:latin typeface="Courier New" panose="02070309020205020404" pitchFamily="49" charset="0"/>
              </a:rPr>
              <a:t>pressKey</a:t>
            </a:r>
            <a:r>
              <a:rPr lang="en-US" sz="1800" dirty="0">
                <a:latin typeface="Courier New" panose="02070309020205020404" pitchFamily="49" charset="0"/>
              </a:rPr>
              <a:t>(</a:t>
            </a:r>
            <a:r>
              <a:rPr lang="en-US" sz="1800" b="1" dirty="0">
                <a:latin typeface="Courier New" panose="02070309020205020404" pitchFamily="49" charset="0"/>
              </a:rPr>
              <a:t>new </a:t>
            </a:r>
            <a:r>
              <a:rPr lang="en-US" sz="1800" b="1" dirty="0" err="1">
                <a:latin typeface="Courier New" panose="02070309020205020404" pitchFamily="49" charset="0"/>
              </a:rPr>
              <a:t>KeyEvent</a:t>
            </a:r>
            <a:r>
              <a:rPr lang="en-US" sz="1800" b="1" dirty="0">
                <a:latin typeface="Courier New" panose="02070309020205020404" pitchFamily="49" charset="0"/>
              </a:rPr>
              <a:t>(</a:t>
            </a:r>
            <a:r>
              <a:rPr lang="en-US" sz="1800" b="1" dirty="0" err="1">
                <a:latin typeface="Courier New" panose="02070309020205020404" pitchFamily="49" charset="0"/>
              </a:rPr>
              <a:t>AndroidKey.</a:t>
            </a:r>
            <a:r>
              <a:rPr lang="en-US" sz="1800" b="1" i="1" dirty="0" err="1">
                <a:latin typeface="Courier New" panose="02070309020205020404" pitchFamily="49" charset="0"/>
              </a:rPr>
              <a:t>ENTER</a:t>
            </a:r>
            <a:r>
              <a:rPr lang="en-US" sz="1800" b="1" i="1" dirty="0">
                <a:latin typeface="Courier New" panose="02070309020205020404" pitchFamily="49" charset="0"/>
              </a:rPr>
              <a:t>));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endParaRPr lang="en-US" sz="1800" b="1" i="1" dirty="0">
              <a:latin typeface="Courier New" panose="02070309020205020404" pitchFamily="49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b="1" i="1" dirty="0">
                <a:latin typeface="Courier New" panose="02070309020205020404" pitchFamily="49" charset="0"/>
                <a:ea typeface="Roboto Medium" panose="02000000000000000000" pitchFamily="2" charset="0"/>
                <a:cs typeface="Apple Symbols" panose="02000000000000000000" pitchFamily="2" charset="-79"/>
              </a:rPr>
              <a:t>Note:</a:t>
            </a:r>
          </a:p>
          <a:p>
            <a:r>
              <a:rPr lang="en-IN" b="1" dirty="0"/>
              <a:t>import</a:t>
            </a:r>
            <a:r>
              <a:rPr lang="en-IN" dirty="0"/>
              <a:t> </a:t>
            </a:r>
            <a:r>
              <a:rPr lang="en-IN" dirty="0" err="1"/>
              <a:t>io.appium.java_client.android.nativekey.AndroidKey</a:t>
            </a:r>
            <a:r>
              <a:rPr lang="en-IN" dirty="0"/>
              <a:t>;</a:t>
            </a:r>
          </a:p>
          <a:p>
            <a:r>
              <a:rPr lang="en-IN" b="1" dirty="0"/>
              <a:t>import</a:t>
            </a:r>
            <a:r>
              <a:rPr lang="en-IN" dirty="0"/>
              <a:t> </a:t>
            </a:r>
            <a:r>
              <a:rPr lang="en-IN" dirty="0" err="1"/>
              <a:t>io.appium.java_client.android.nativekey.KeyEvent</a:t>
            </a:r>
            <a:r>
              <a:rPr lang="en-IN" dirty="0"/>
              <a:t>;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endParaRPr lang="en-IN" sz="2200" dirty="0">
              <a:latin typeface="Sitka Small Semibold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  <a:p>
            <a:pPr algn="just"/>
            <a:endParaRPr lang="en-IN" sz="2200" b="0" i="0" dirty="0">
              <a:solidFill>
                <a:schemeClr val="bg1"/>
              </a:solidFill>
              <a:effectLst/>
              <a:latin typeface="Roboto Medium" panose="02000000000000000000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5698158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B4460-0360-234B-5B47-7CA3D2A8A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1984" y="1828800"/>
            <a:ext cx="9567004" cy="23755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4000" b="1" dirty="0">
                <a:latin typeface="Metropolis Extra Bold" panose="00000900000000000000" pitchFamily="50" charset="0"/>
                <a:ea typeface="+mj-ea"/>
                <a:cs typeface="Apple Symbols" panose="02000000000000000000" pitchFamily="2" charset="-79"/>
              </a:rPr>
              <a:t> Network Management and Performance Analysis using Appium</a:t>
            </a:r>
          </a:p>
          <a:p>
            <a:pPr marL="0" indent="0" algn="l">
              <a:buNone/>
            </a:pPr>
            <a:endParaRPr lang="en-IN" sz="4000" b="1" dirty="0">
              <a:latin typeface="Metropolis Extra Bold" panose="00000900000000000000" pitchFamily="50" charset="0"/>
              <a:ea typeface="+mj-ea"/>
              <a:cs typeface="Apple Symbols" panose="020000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543189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7B495-57EA-11D9-E593-4DAE20C09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447" y="80683"/>
            <a:ext cx="12192000" cy="97366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Century Schoolbook" panose="02040604050505020304" pitchFamily="18" charset="0"/>
              </a:rPr>
              <a:t>Read the Notifications from the Notification Bar</a:t>
            </a:r>
            <a:br>
              <a:rPr lang="en-US" sz="2800" b="1" dirty="0">
                <a:latin typeface="Century Schoolbook" panose="02040604050505020304" pitchFamily="18" charset="0"/>
              </a:rPr>
            </a:br>
            <a:r>
              <a:rPr lang="en-US" sz="2800" b="1" dirty="0">
                <a:latin typeface="Century Schoolbook" panose="02040604050505020304" pitchFamily="18" charset="0"/>
              </a:rPr>
              <a:t>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B4460-0360-234B-5B47-7CA3D2A8A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8606" y="980388"/>
            <a:ext cx="10294070" cy="4949072"/>
          </a:xfrm>
        </p:spPr>
        <p:txBody>
          <a:bodyPr>
            <a:no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Set the Required Capabilities :When configuring your Appium session, make sure to set the necessary capabilities to interact with the notification bar.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Open the Notification Shade : Use the Appium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openNotifications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 method to open the notification shade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Access the Notification Elements : Once the notification shade is open, you can locate and interact with the notification elements as you would with any other elements on the screen.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Read the Notification Content : Retrieve the notification content by accessing the text or attributes of the notification elements. </a:t>
            </a:r>
          </a:p>
          <a:p>
            <a:pPr algn="l"/>
            <a:endParaRPr lang="en-IN" sz="2200" b="0" i="0" dirty="0">
              <a:solidFill>
                <a:schemeClr val="bg1"/>
              </a:solidFill>
              <a:effectLst/>
              <a:latin typeface="Roboto Medium" panose="02000000000000000000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0204156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7B495-57EA-11D9-E593-4DAE20C09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92" y="231512"/>
            <a:ext cx="11125108" cy="97366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Century Schoolbook" panose="02040604050505020304" pitchFamily="18" charset="0"/>
              </a:rPr>
              <a:t>Automate Networking Configurations such as to Toggle Airplane Mode, Toggle Data, Toggle Wi-Fi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B4460-0360-234B-5B47-7CA3D2A8A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8033" y="1791092"/>
            <a:ext cx="10171522" cy="4908555"/>
          </a:xfrm>
        </p:spPr>
        <p:txBody>
          <a:bodyPr>
            <a:noAutofit/>
          </a:bodyPr>
          <a:lstStyle/>
          <a:p>
            <a:pPr algn="just">
              <a:buFont typeface="+mj-lt"/>
              <a:buAutoNum type="arabicPeriod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Set the Required Capabilities : When configuring your Appium session, make sure to set the necessary capabilities to interact with the device's networking configurations. </a:t>
            </a:r>
          </a:p>
          <a:p>
            <a:pPr algn="just">
              <a:buFont typeface="+mj-lt"/>
              <a:buAutoNum type="arabicPeriod"/>
            </a:pPr>
            <a:endParaRPr lang="en-IN" sz="2200" dirty="0">
              <a:latin typeface="Sitka Small Semibold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  <a:p>
            <a:pPr algn="just">
              <a:buFont typeface="+mj-lt"/>
              <a:buAutoNum type="arabicPeriod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Toggle Airplane Mode: Use the Appium driver's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toggleAirplaneMode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 method to enable or disable Airplane Mode. </a:t>
            </a:r>
          </a:p>
          <a:p>
            <a:pPr algn="just">
              <a:buFont typeface="+mj-lt"/>
              <a:buAutoNum type="arabicPeriod"/>
            </a:pPr>
            <a:endParaRPr lang="en-IN" sz="2200" dirty="0">
              <a:latin typeface="Sitka Small Semibold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  <a:p>
            <a:pPr algn="just">
              <a:buFont typeface="+mj-lt"/>
              <a:buAutoNum type="arabicPeriod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Toggle Data : Use the Appium driver's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toggleData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 method to enable or disable mobile data.</a:t>
            </a:r>
          </a:p>
          <a:p>
            <a:pPr algn="just">
              <a:buFont typeface="+mj-lt"/>
              <a:buAutoNum type="arabicPeriod"/>
            </a:pPr>
            <a:endParaRPr lang="en-IN" sz="2200" dirty="0">
              <a:latin typeface="Sitka Small Semibold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  <a:p>
            <a:pPr algn="just">
              <a:buFont typeface="+mj-lt"/>
              <a:buAutoNum type="arabicPeriod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Toggle Wi-Fi : Use the Appium driver's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toggleWifi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 method to enable or disable Wi-Fi</a:t>
            </a:r>
          </a:p>
          <a:p>
            <a:pPr algn="just"/>
            <a:endParaRPr lang="en-IN" sz="2200" dirty="0">
              <a:latin typeface="Sitka Small Semibold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  <a:p>
            <a:pPr algn="just"/>
            <a:endParaRPr lang="en-IN" sz="2200" b="0" i="0" dirty="0">
              <a:solidFill>
                <a:schemeClr val="bg1"/>
              </a:solidFill>
              <a:effectLst/>
              <a:latin typeface="Roboto Medium" panose="02000000000000000000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686674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7B495-57EA-11D9-E593-4DAE20C09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447" y="80683"/>
            <a:ext cx="12192000" cy="97366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Century Schoolbook" panose="02040604050505020304" pitchFamily="18" charset="0"/>
              </a:rPr>
              <a:t>Automating the App Interactions such as </a:t>
            </a:r>
            <a:br>
              <a:rPr lang="en-US" sz="2800" b="1" dirty="0">
                <a:latin typeface="Century Schoolbook" panose="02040604050505020304" pitchFamily="18" charset="0"/>
              </a:rPr>
            </a:br>
            <a:r>
              <a:rPr lang="en-US" sz="2800" b="1" dirty="0">
                <a:latin typeface="Century Schoolbook" panose="02040604050505020304" pitchFamily="18" charset="0"/>
              </a:rPr>
              <a:t>Lock and Unlock and rotate the Android Phone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B4460-0360-234B-5B47-7CA3D2A8A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167" y="1762812"/>
            <a:ext cx="10199802" cy="4936836"/>
          </a:xfrm>
        </p:spPr>
        <p:txBody>
          <a:bodyPr>
            <a:no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Lock and Unlock the Device : To automate locking and unlocking the device, you can use the Appium driver's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lockDevice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 and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unlockDevice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 methods. </a:t>
            </a:r>
          </a:p>
          <a:p>
            <a:pPr algn="just"/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The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lockDevice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 method locks the device screen, simulating the user action of pressing the power button. </a:t>
            </a:r>
          </a:p>
          <a:p>
            <a:pPr algn="just"/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The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unlockDevice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() method unlocks the device screen, simulating the user action of swiping or entering the device's unlock pattern or PIN.</a:t>
            </a:r>
          </a:p>
          <a:p>
            <a:pPr marL="457200" indent="-457200" algn="just">
              <a:buAutoNum type="arabicPeriod" startAt="2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Rotate the Android Phone : To automate rotating the Android phone to different orientations, you can use the Appium driver's ‘rotate’ method.</a:t>
            </a:r>
          </a:p>
          <a:p>
            <a:pPr algn="just"/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The rotate method allows you to specify the desired orientation using the ‘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ScreenOrientation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’ </a:t>
            </a:r>
            <a:r>
              <a:rPr lang="en-IN" sz="2200" dirty="0" err="1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enum</a:t>
            </a: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, which includes values such as LANDSCAPE and PORTRAIT.</a:t>
            </a:r>
          </a:p>
          <a:p>
            <a:pPr algn="just"/>
            <a:endParaRPr lang="en-IN" sz="2200" b="0" i="0" dirty="0">
              <a:solidFill>
                <a:schemeClr val="bg1"/>
              </a:solidFill>
              <a:effectLst/>
              <a:latin typeface="Roboto Medium" panose="02000000000000000000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592569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7B495-57EA-11D9-E593-4DAE20C09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447" y="80683"/>
            <a:ext cx="12192000" cy="973668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entury Schoolbook" panose="02040604050505020304" pitchFamily="18" charset="0"/>
              </a:rPr>
              <a:t>Get the Performance Data of an Android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B4460-0360-234B-5B47-7CA3D2A8A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0009" y="1121789"/>
            <a:ext cx="9973558" cy="4223208"/>
          </a:xfrm>
        </p:spPr>
        <p:txBody>
          <a:bodyPr>
            <a:noAutofit/>
          </a:bodyPr>
          <a:lstStyle/>
          <a:p>
            <a:pPr marL="342900" indent="-342900" algn="just">
              <a:buFont typeface="Arial" panose="020B0604020202020204" pitchFamily="34" charset="0"/>
              <a:buAutoNum type="arabicPeriod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Set the Required Capabilities : When configuring your Appium session, make sure to set the necessary capabilities to enable performance data collection. </a:t>
            </a:r>
          </a:p>
          <a:p>
            <a:pPr marL="342900" indent="-342900" algn="just">
              <a:buFont typeface="Arial" panose="020B0604020202020204" pitchFamily="34" charset="0"/>
              <a:buAutoNum type="arabicPeriod"/>
            </a:pPr>
            <a:r>
              <a:rPr lang="en-IN" sz="2200" dirty="0">
                <a:latin typeface="Sitka Small Semibold" pitchFamily="2" charset="0"/>
                <a:ea typeface="Roboto Medium" panose="02000000000000000000" pitchFamily="2" charset="0"/>
                <a:cs typeface="Apple Symbols" panose="02000000000000000000" pitchFamily="2" charset="-79"/>
              </a:rPr>
              <a:t>Get Performance data Types</a:t>
            </a:r>
          </a:p>
          <a:p>
            <a:pPr algn="l"/>
            <a:r>
              <a:rPr lang="en-IN" sz="2000" b="1" dirty="0">
                <a:latin typeface="Courier New" panose="02070309020205020404" pitchFamily="49" charset="0"/>
              </a:rPr>
              <a:t>(</a:t>
            </a:r>
            <a:r>
              <a:rPr lang="en-IN" sz="2000" b="1" dirty="0" err="1">
                <a:latin typeface="Courier New" panose="02070309020205020404" pitchFamily="49" charset="0"/>
              </a:rPr>
              <a:t>AndroidDriver</a:t>
            </a:r>
            <a:r>
              <a:rPr lang="en-IN" sz="2000" b="1" dirty="0">
                <a:latin typeface="Courier New" panose="02070309020205020404" pitchFamily="49" charset="0"/>
              </a:rPr>
              <a:t>)driver).</a:t>
            </a:r>
            <a:r>
              <a:rPr lang="en-IN" sz="2000" b="1" dirty="0" err="1">
                <a:latin typeface="Courier New" panose="02070309020205020404" pitchFamily="49" charset="0"/>
              </a:rPr>
              <a:t>getSupportedPerformanceDataTypes</a:t>
            </a:r>
            <a:r>
              <a:rPr lang="en-IN" sz="2000" b="1" dirty="0">
                <a:latin typeface="Courier New" panose="02070309020205020404" pitchFamily="49" charset="0"/>
              </a:rPr>
              <a:t>();</a:t>
            </a:r>
          </a:p>
          <a:p>
            <a:pPr algn="l"/>
            <a:endParaRPr lang="en-IN" sz="2000" b="1" dirty="0">
              <a:latin typeface="Courier New" panose="02070309020205020404" pitchFamily="49" charset="0"/>
            </a:endParaRPr>
          </a:p>
          <a:p>
            <a:pPr algn="l"/>
            <a:r>
              <a:rPr lang="en-IN" sz="2000" b="1" dirty="0">
                <a:latin typeface="Courier New" panose="02070309020205020404" pitchFamily="49" charset="0"/>
              </a:rPr>
              <a:t>Get Performance Data</a:t>
            </a:r>
          </a:p>
          <a:p>
            <a:pPr algn="l"/>
            <a:r>
              <a:rPr lang="en-IN" sz="2000" b="1" dirty="0" err="1">
                <a:latin typeface="Courier New" panose="02070309020205020404" pitchFamily="49" charset="0"/>
              </a:rPr>
              <a:t>getPerformanceData</a:t>
            </a:r>
            <a:r>
              <a:rPr lang="en-IN" sz="2000" b="1" dirty="0">
                <a:latin typeface="Courier New" panose="02070309020205020404" pitchFamily="49" charset="0"/>
              </a:rPr>
              <a:t>(“apppackage","batteryinfo",5);</a:t>
            </a:r>
          </a:p>
          <a:p>
            <a:pPr algn="l"/>
            <a:endParaRPr lang="en-IN" sz="1600" b="0" i="0" dirty="0">
              <a:solidFill>
                <a:schemeClr val="bg1"/>
              </a:solidFill>
              <a:effectLst/>
              <a:latin typeface="Roboto Medium" panose="02000000000000000000" pitchFamily="2" charset="0"/>
              <a:ea typeface="Roboto Medium" panose="02000000000000000000" pitchFamily="2" charset="0"/>
              <a:cs typeface="Apple Symbols" panose="020000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7867703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828DA-7A49-6A05-B66D-55843D9B3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3324" y="82485"/>
            <a:ext cx="7844261" cy="945037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Working with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9ABA3-3487-5989-98BD-0F7A40976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159496"/>
            <a:ext cx="10299195" cy="5698504"/>
          </a:xfrm>
        </p:spPr>
        <p:txBody>
          <a:bodyPr>
            <a:normAutofit/>
          </a:bodyPr>
          <a:lstStyle/>
          <a:p>
            <a:pPr algn="just">
              <a:lnSpc>
                <a:spcPct val="107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b="1" dirty="0">
                <a:latin typeface="Helvetica" panose="020B0604020202020204" pitchFamily="34" charset="0"/>
                <a:cs typeface="Times New Roman" panose="02020603050405020304" pitchFamily="18" charset="0"/>
              </a:rPr>
              <a:t>Terminate app 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	- Terminates an existing app  </a:t>
            </a:r>
          </a:p>
          <a:p>
            <a:pPr algn="just">
              <a:lnSpc>
                <a:spcPct val="107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((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AndroidDriver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)driver).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terminateApp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(“app package name");</a:t>
            </a:r>
          </a:p>
          <a:p>
            <a:pPr algn="just">
              <a:lnSpc>
                <a:spcPct val="107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b="1" dirty="0">
                <a:latin typeface="Helvetica" panose="020B0604020202020204" pitchFamily="34" charset="0"/>
                <a:cs typeface="Times New Roman" panose="02020603050405020304" pitchFamily="18" charset="0"/>
              </a:rPr>
              <a:t>Install Application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	- Test app upgrades</a:t>
            </a:r>
          </a:p>
          <a:p>
            <a:pPr algn="just">
              <a:lnSpc>
                <a:spcPct val="107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Note: Use terminate before installing</a:t>
            </a:r>
          </a:p>
          <a:p>
            <a:pPr algn="just">
              <a:lnSpc>
                <a:spcPct val="107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((</a:t>
            </a:r>
            <a:r>
              <a:rPr lang="en-US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AndroidDriver</a:t>
            </a:r>
            <a:r>
              <a:rPr 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)driver).</a:t>
            </a:r>
            <a:r>
              <a:rPr lang="en-US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installApp</a:t>
            </a:r>
            <a:r>
              <a:rPr 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(appurl1,newAndroidInstallApplicationOptions().</a:t>
            </a:r>
            <a:r>
              <a:rPr lang="en-US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withReplaceEnabled</a:t>
            </a:r>
            <a:r>
              <a:rPr 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());</a:t>
            </a:r>
            <a:endParaRPr lang="en-IN" dirty="0">
              <a:latin typeface="Helvetica" panose="020B06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b="1" dirty="0">
                <a:latin typeface="Helvetica" panose="020B0604020202020204" pitchFamily="34" charset="0"/>
                <a:cs typeface="Times New Roman" panose="02020603050405020304" pitchFamily="18" charset="0"/>
              </a:rPr>
              <a:t> Remove app 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- Uninstalls app</a:t>
            </a:r>
          </a:p>
          <a:p>
            <a:pPr algn="just">
              <a:lnSpc>
                <a:spcPct val="107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((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AndroidDriver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)driver).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removeApp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("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io.appium.android.apis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");</a:t>
            </a:r>
          </a:p>
          <a:p>
            <a:pPr algn="just">
              <a:lnSpc>
                <a:spcPct val="107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b="1" dirty="0">
                <a:latin typeface="Helvetica" panose="020B0604020202020204" pitchFamily="34" charset="0"/>
                <a:cs typeface="Times New Roman" panose="02020603050405020304" pitchFamily="18" charset="0"/>
              </a:rPr>
              <a:t> Is app installed? </a:t>
            </a:r>
          </a:p>
          <a:p>
            <a:pPr algn="just">
              <a:lnSpc>
                <a:spcPct val="107000"/>
              </a:lnSpc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	- Checks if an app is already installed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38361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828DA-7A49-6A05-B66D-55843D9B3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550" y="129619"/>
            <a:ext cx="10018713" cy="945037"/>
          </a:xfrm>
        </p:spPr>
        <p:txBody>
          <a:bodyPr/>
          <a:lstStyle/>
          <a:p>
            <a:r>
              <a:rPr lang="en-IN" sz="3200" b="1" dirty="0">
                <a:latin typeface="Century Schoolbook" panose="02040604050505020304" pitchFamily="18" charset="0"/>
              </a:rPr>
              <a:t>Working with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9ABA3-3487-5989-98BD-0F7A40976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08" y="973317"/>
            <a:ext cx="10299195" cy="5698504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b="1" dirty="0">
                <a:latin typeface="Helvetica" panose="020B0604020202020204" pitchFamily="34" charset="0"/>
                <a:cs typeface="Times New Roman" panose="02020603050405020304" pitchFamily="18" charset="0"/>
              </a:rPr>
              <a:t>Run app is background 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	- Sends app to background for specified time and then brings back to foreground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 ((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AndroidDriver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)driver).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runAppInBackground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Duration.ofMillis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(5000));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b="1" dirty="0">
                <a:latin typeface="Helvetica" panose="020B0604020202020204" pitchFamily="34" charset="0"/>
                <a:cs typeface="Times New Roman" panose="02020603050405020304" pitchFamily="18" charset="0"/>
              </a:rPr>
              <a:t>Activate app 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	- Activates an app and moves it to foreground (the app should be already running)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  </a:t>
            </a:r>
            <a:r>
              <a:rPr 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To activate any new app like Settings	((</a:t>
            </a:r>
            <a:r>
              <a:rPr lang="en-US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AndroidDriver</a:t>
            </a:r>
            <a:r>
              <a:rPr 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)driver).</a:t>
            </a:r>
            <a:r>
              <a:rPr lang="en-US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activateApp</a:t>
            </a:r>
            <a:r>
              <a:rPr 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("</a:t>
            </a:r>
            <a:r>
              <a:rPr lang="en-US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com.android.settings</a:t>
            </a:r>
            <a:r>
              <a:rPr 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");</a:t>
            </a:r>
            <a:endParaRPr lang="en-IN" dirty="0">
              <a:latin typeface="Helvetica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b="1" dirty="0">
                <a:latin typeface="Helvetica" panose="020B0604020202020204" pitchFamily="34" charset="0"/>
                <a:cs typeface="Times New Roman" panose="02020603050405020304" pitchFamily="18" charset="0"/>
              </a:rPr>
              <a:t>Query app state 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	- Returns current app state (for e.g. RUNNING_IN_FOREGROUND)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 ((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AndroidDriver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)driver).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queryAppState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("</a:t>
            </a:r>
            <a:r>
              <a:rPr lang="en-IN" dirty="0" err="1">
                <a:latin typeface="Helvetica" panose="020B0604020202020204" pitchFamily="34" charset="0"/>
                <a:cs typeface="Times New Roman" panose="02020603050405020304" pitchFamily="18" charset="0"/>
              </a:rPr>
              <a:t>io.appium.android.apis</a:t>
            </a: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")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b="1" dirty="0">
                <a:latin typeface="Helvetica" panose="020B0604020202020204" pitchFamily="34" charset="0"/>
                <a:cs typeface="Times New Roman" panose="02020603050405020304" pitchFamily="18" charset="0"/>
              </a:rPr>
              <a:t>Reset app 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IN" dirty="0">
                <a:latin typeface="Helvetica" panose="020B0604020202020204" pitchFamily="34" charset="0"/>
                <a:cs typeface="Times New Roman" panose="02020603050405020304" pitchFamily="18" charset="0"/>
              </a:rPr>
              <a:t>	- Reset the app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90412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2641</TotalTime>
  <Words>2385</Words>
  <Application>Microsoft Office PowerPoint</Application>
  <PresentationFormat>Widescreen</PresentationFormat>
  <Paragraphs>246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4" baseType="lpstr">
      <vt:lpstr>Arial</vt:lpstr>
      <vt:lpstr>Calibri</vt:lpstr>
      <vt:lpstr>Century Schoolbook</vt:lpstr>
      <vt:lpstr>Corbel</vt:lpstr>
      <vt:lpstr>Courier New</vt:lpstr>
      <vt:lpstr>Helvetica</vt:lpstr>
      <vt:lpstr>Metropolis Extra Bold</vt:lpstr>
      <vt:lpstr>Open Sans</vt:lpstr>
      <vt:lpstr>Roboto Medium</vt:lpstr>
      <vt:lpstr>Sitka Small Semibold</vt:lpstr>
      <vt:lpstr>Symbol</vt:lpstr>
      <vt:lpstr>Times New Roman</vt:lpstr>
      <vt:lpstr>Wingdings 2</vt:lpstr>
      <vt:lpstr>Parallax</vt:lpstr>
      <vt:lpstr>Appium</vt:lpstr>
      <vt:lpstr>Contents</vt:lpstr>
      <vt:lpstr>Mobile application testing</vt:lpstr>
      <vt:lpstr>Types of mobile testing</vt:lpstr>
      <vt:lpstr>Types of Mobile Applications</vt:lpstr>
      <vt:lpstr>Native Mobile App</vt:lpstr>
      <vt:lpstr> Mobile Web Application</vt:lpstr>
      <vt:lpstr>Hybrid Mobile App</vt:lpstr>
      <vt:lpstr>Test conduct on Mobile Application</vt:lpstr>
      <vt:lpstr>Challenges In Mobile Testing</vt:lpstr>
      <vt:lpstr>What is Appium</vt:lpstr>
      <vt:lpstr>What is Appium</vt:lpstr>
      <vt:lpstr>Why Appium</vt:lpstr>
      <vt:lpstr>PowerPoint Presentation</vt:lpstr>
      <vt:lpstr>Limitations</vt:lpstr>
      <vt:lpstr>Appium Architecture</vt:lpstr>
      <vt:lpstr>Appium Architecture</vt:lpstr>
      <vt:lpstr>PowerPoint Presentation</vt:lpstr>
      <vt:lpstr>Appium Installation On Windows</vt:lpstr>
      <vt:lpstr>Step 1 :Install Appium Through CLI</vt:lpstr>
      <vt:lpstr>Appium Through CLI</vt:lpstr>
      <vt:lpstr>Step 2:Install Appium Desktop(optional)</vt:lpstr>
      <vt:lpstr>Step 3 :Install UiAutomator2 Through CLI</vt:lpstr>
      <vt:lpstr>Step 4 :Install Appium Inspector</vt:lpstr>
      <vt:lpstr>Step 5 :Install Android Studio</vt:lpstr>
      <vt:lpstr>Setup Java &amp; Android variable</vt:lpstr>
      <vt:lpstr>Step 6:Verify Installation Using Appium-doctor</vt:lpstr>
      <vt:lpstr>Appium Driver Management</vt:lpstr>
      <vt:lpstr>Appium Driver Management</vt:lpstr>
      <vt:lpstr>Appium Driver Management</vt:lpstr>
      <vt:lpstr>Android Emulator Setup</vt:lpstr>
      <vt:lpstr>Create Driver Session</vt:lpstr>
      <vt:lpstr>Desired Capabilities</vt:lpstr>
      <vt:lpstr>Desired Capabilities</vt:lpstr>
      <vt:lpstr>Android session</vt:lpstr>
      <vt:lpstr>Create Driver Session for IOS</vt:lpstr>
      <vt:lpstr>Create Android session Using Options Class</vt:lpstr>
      <vt:lpstr>Create iOS session Using Options Class</vt:lpstr>
      <vt:lpstr>How to get App Package &amp; App Activity</vt:lpstr>
      <vt:lpstr>Create a Session Through Appium Inspector</vt:lpstr>
      <vt:lpstr>Locator Strategy for Android</vt:lpstr>
      <vt:lpstr>Mobile Gestures With UiAutomator2</vt:lpstr>
      <vt:lpstr>Automate Android Key Events</vt:lpstr>
      <vt:lpstr>PowerPoint Presentation</vt:lpstr>
      <vt:lpstr>Read the Notifications from the Notification Bar Information</vt:lpstr>
      <vt:lpstr>Automate Networking Configurations such as to Toggle Airplane Mode, Toggle Data, Toggle Wi-Fi</vt:lpstr>
      <vt:lpstr>Automating the App Interactions such as  Lock and Unlock and rotate the Android Phone</vt:lpstr>
      <vt:lpstr>Get the Performance Data of an Android App</vt:lpstr>
      <vt:lpstr>Working with App</vt:lpstr>
      <vt:lpstr>Working with App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Appium</dc:title>
  <dc:creator>Ganesh Nigade</dc:creator>
  <cp:lastModifiedBy>ganesh nigade</cp:lastModifiedBy>
  <cp:revision>134</cp:revision>
  <dcterms:created xsi:type="dcterms:W3CDTF">2023-03-07T13:14:32Z</dcterms:created>
  <dcterms:modified xsi:type="dcterms:W3CDTF">2025-09-16T14:37:37Z</dcterms:modified>
</cp:coreProperties>
</file>